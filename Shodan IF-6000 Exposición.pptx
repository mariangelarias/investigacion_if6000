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56" r:id="rId2"/>
    <p:sldId id="258" r:id="rId3"/>
    <p:sldId id="259" r:id="rId4"/>
    <p:sldId id="260" r:id="rId5"/>
    <p:sldId id="261" r:id="rId6"/>
    <p:sldId id="263" r:id="rId7"/>
    <p:sldId id="264" r:id="rId8"/>
    <p:sldId id="265" r:id="rId9"/>
    <p:sldId id="266" r:id="rId10"/>
    <p:sldId id="267" r:id="rId11"/>
    <p:sldId id="268" r:id="rId12"/>
    <p:sldId id="269" r:id="rId13"/>
    <p:sldId id="271" r:id="rId14"/>
  </p:sldIdLst>
  <p:sldSz cx="12192000" cy="6858000"/>
  <p:notesSz cx="6858000" cy="12192000"/>
  <p:embeddedFontLst>
    <p:embeddedFont>
      <p:font typeface="IBM Plex Sans" panose="020B0503050203000203" pitchFamily="34" charset="0"/>
      <p:regular r:id="rId16"/>
      <p:bold r:id="rId17"/>
    </p:embeddedFon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66"/>
    <p:restoredTop sz="88639"/>
  </p:normalViewPr>
  <p:slideViewPr>
    <p:cSldViewPr snapToGrid="0" snapToObjects="1">
      <p:cViewPr varScale="1">
        <p:scale>
          <a:sx n="116" d="100"/>
          <a:sy n="116" d="100"/>
        </p:scale>
        <p:origin x="12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336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0:30] Buenas. Somos Mariangel y Alejandro. Hoy les mostramos Shodan: qué es, cómo funciona y qué se ve de Costa Rica con él, con una demo en vivo. Aviso desde ya: todo lo que van a ver es consulta pasiva, no nos conectamos a ningún dispositivo.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1:30] Un buscador normal guarda páginas. Shodan guarda la información pública que expone un servicio. A eso se le llama banner: metadatos del software que corre en el dispositivo, como el servidor, su versión o un mensaje de bienvenida. La documentación lo resume así: Shodan rastrea Internet, Google rastrea la World Wide Web. Por eso buscar country:CR port:22 devuelve servicios SSH en Costa Rica, no artículos sobre SSH. El banner de la pantalla es solo un ejemplo ilustrativo.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1:30] Shodan sirve para verse desde afuera, que es lo que debería hacer cualquier equipo de TI. Pero también es reconocimiento para un atacante. Un estudio con honeypots industriales no encontró ataques masivos por estar indexados, aunque eso depende del diseño del experimento. Y en Costa Rica el número es concreto: 292,152 servicios indexados el 27 de octubre.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1:30] Cuatro cosas. Filtros: se escriben nombre:valor. Facets: rankings agregados, que es justo lo que usamos para Costa Rica. Tres formas de acceso: web, línea de comandos y API. Y créditos: un crédito descarga 100 resultados y se gasta al usar filtros o pedir la página 2. El endpoint count no gasta créditos, y eso lo comprobamos: el panel marcaba 100 antes y 100 después. El plan académico, con correo @ucr.ac.cr, da 100 créditos de consulta, 100 de escaneo y 16 IPs a monitorear; los planes pueden cambiar, hay que verificarlos en la documentación.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1:30] Shodan recorre Internet, guarda la información pública de cada servicio como banner, la ordena en un índice con metadatos y nosotros consultamos ese índice. Tres consecuencias que vimos: el dato tiene fecha, por eso los totales cambian incluso el mismo día; no todo servicio expuesto está indexado, la consulta de una IP propia dio cero información; y según Wu y colaboradores, cambiar el puerto o bloquear IPs de escáneres no evita ser escaneado.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1:15] DEMO EN VIVO: abrir el panel de desarrollador en Shodan. Mostrar el nivel Academic membership, los 100 créditos de consulta y los 100 de escaneo. Mensaje: con una cuenta gratuita se puede hacer todo esto, siempre que se planifique el consumo. No mostrar la clave de API en pantalla. PLAN B: esta captura.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2:00] DEMO EN VIVO en terminal. Orden: 1) shodan info (créditos). 2) shodan count country:CR. 3) shodan stats --facets port country:CR. 4) shodan stats --facets product country:CR port:22. Qué decir: count y stats con facets no gastan créditos y no bajan IPs, es exactamente lo que necesitamos para un análisis agregado. En Windows el comando es python -m shodan. PLAN B: estas capturas o el video corto.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2:00] DEMO EN VIVO en shodan.io con la sesión iniciada. 1) Buscar country:CR y señalar los paneles laterales: ciudades, puertos, organizaciones. 2) Agregar port:22 (3,602 resultados). 3) Probar product:nginx (6,128). 4) Probar ssl.cert.expired:true (2,399). REGLA: no hacer clic en ningún resultado ni en ningún enlace de un dispositivo; solo mirar totales y paneles. Si la pantalla muestra IPs, no leerlas ni acercarlas. PLAN B: estas capturas, que ya tienen los datos de terceros difuminados.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2:30] DEMO EN VIVO: correr python shodan_cr.py en la carpeta scripts, esperar unos 15 segundos (hay una pausa de 1 s entre consultas por el límite de la API) y abrir salida/00_dashboard.png. Explicar: el script lee la clave de la configuración de la CLI, nunca del código; hace count con facets y ocho conteos por servicio; guarda un JSON y dibuja los gráficos. Mostrar que los créditos quedan igual. SI FALLA LA RED: python shodan_cr.py --offline regenera todos los gráficos desde datos_cr.json en un segundo.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1:30] Lo que salió de los datos. Casi uno de cada cuatro servicios está en el puerto 7547; los productos con TR-069 en el nombre sugieren equipos de acceso a Internet de hogares gestionados por el proveedor, pero eso es una hipótesis, no lo probamos. San José concentra el 61.9 %, aunque la ubicación por IP es una estimación. HTTP aparece 3.8 veces más que HTTPS. Y ojo: indexado no significa vulnerable. Son conteos de servicios, no de equipos, y no los comprobamos contra ningún dispositivo.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1:30] Shodan, Censys, ZoomEye y FOFA responden qué está expuesto. Censys, según sus autores en 2015, se apoya en ZMap y ZGrab y permite consultar campos estructurados. De ZoomEye y FOFA solo verificamos lo que dicen sus propios sitios y no los probamos. GreyNoise responde otra pregunta: si una IP anda escaneando Internet. La probamos con dos consultas: 8.8.8.8 y una IP propia, ambas NOT OBSERVED. Combinarlas da una imagen más completa. Las afirmaciones sobre Censys vienen de un artículo de 2015 y pueden haber cambiado.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[MARIANGEL, 1:15] Consultar el índice es pasivo; conectarse a un equipo que aparece ahí, probar contraseñas o interactuar con él es otra cosa y puede ser delito. La Ley 9048 reformó el Código Penal; según la transcripción que consultamos, incluye violación de correspondencia o comunicaciones (art. 196), violación de datos personales (196 bis) y espionaje informático (231). La Ley 8968 define datos personales como datos de una persona física identificada o identificable (art. 3 inciso b) y obliga a informar de previo a los titulares cuando se piden sus datos (art. 5). No somos abogados, no analizamos el alcance de los artículos y el texto debe verificarse en el SCIJ. Por prudencia difuminamos IPs, dominios y organizaciones de terceros. Wu y colaboradores también señalan problemas éticos de los propios motores: poca transparencia y sin forma de optar por no ser escaneado.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[ALEJANDRO, 1:15] Cinco ideas, todas atadas a algo que mostramos. Uno: Shodan indexa respuestas de servicios. Dos: con una cuenta gratuita sacamos 292,152 servicios sin gastar créditos. Tres: Costa Rica está concentrada, con el puerto 7547 y San José a la cabeza, aunque la lectura sobre proveedores es una hipótesis. Cuatro: indexado no es vulnerable y el índice es una foto incompleta. Cinco: ningún buscador basta solo y trabajar de forma pasiva fue lo que nos permitió obtener todo esto sin conectarnos a nada. Útil para defender si se mira la propia red, delicada si se usa sin criterio sobre la ajena.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7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8012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E8EDF4"/>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2059880"/>
            <a:ext cx="10566400" cy="3985320"/>
          </a:xfrm>
          <a:prstGeom prst="rect">
            <a:avLst/>
          </a:prstGeom>
          <a:noFill/>
          <a:ln/>
        </p:spPr>
        <p:txBody>
          <a:bodyPr wrap="square" lIns="0" tIns="0" rIns="0" bIns="0" rtlCol="0" anchor="t"/>
          <a:lstStyle>
            <a:lvl1pPr marL="0" indent="0" algn="l">
              <a:lnSpc>
                <a:spcPct val="140000"/>
              </a:lnSpc>
              <a:buNone/>
              <a:defRPr lang="en-US" sz="1600" dirty="0">
                <a:solidFill>
                  <a:srgbClr val="E8EDF4"/>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72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80120"/>
            <a:ext cx="10566400" cy="474960"/>
          </a:xfrm>
          <a:prstGeom prst="rect">
            <a:avLst/>
          </a:prstGeom>
          <a:noFill/>
          <a:ln/>
        </p:spPr>
        <p:txBody>
          <a:bodyPr wrap="square" lIns="0" tIns="0" rIns="0" bIns="0" rtlCol="0" anchor="t"/>
          <a:lstStyle>
            <a:lvl1pPr marL="0" indent="0" algn="l">
              <a:lnSpc>
                <a:spcPct val="115000"/>
              </a:lnSpc>
              <a:buNone/>
              <a:defRPr lang="en-US" sz="3400" dirty="0">
                <a:solidFill>
                  <a:srgbClr val="E8EDF4"/>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400" dirty="0"/>
          </a:p>
        </p:txBody>
      </p:sp>
      <p:sp>
        <p:nvSpPr>
          <p:cNvPr id="3" name="Text Placeholder 2"/>
          <p:cNvSpPr>
            <a:spLocks noGrp="1"/>
          </p:cNvSpPr>
          <p:nvPr>
            <p:ph type="body" idx="101"/>
          </p:nvPr>
        </p:nvSpPr>
        <p:spPr>
          <a:xfrm>
            <a:off x="812800" y="2059880"/>
            <a:ext cx="10566400" cy="3985320"/>
          </a:xfrm>
          <a:prstGeom prst="rect">
            <a:avLst/>
          </a:prstGeom>
          <a:noFill/>
          <a:ln/>
        </p:spPr>
        <p:txBody>
          <a:bodyPr wrap="square" lIns="0" tIns="0" rIns="0" bIns="0" rtlCol="0" anchor="t"/>
          <a:lstStyle>
            <a:lvl1pPr marL="0" indent="0" algn="l">
              <a:lnSpc>
                <a:spcPct val="140000"/>
              </a:lnSpc>
              <a:buNone/>
              <a:defRPr lang="en-US" sz="1600" dirty="0">
                <a:solidFill>
                  <a:srgbClr val="E8EDF4"/>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F0654D"/>
                </a:solidFill>
                <a:latin typeface="JetBrains Mono" pitchFamily="49" charset="0"/>
                <a:ea typeface="JetBrains Mono" pitchFamily="49" charset="-122"/>
                <a:cs typeface="JetBrains Mono" pitchFamily="49" charset="-120"/>
              </a:rPr>
              <a:t>IF-6000 REDES EN LOS NEGOCIOS · LABORATORIO PRÁCTICO</a:t>
            </a:r>
            <a:endParaRPr lang="en-US" sz="1400" dirty="0"/>
          </a:p>
        </p:txBody>
      </p:sp>
      <p:sp>
        <p:nvSpPr>
          <p:cNvPr id="3" name="Text 1"/>
          <p:cNvSpPr>
            <a:spLocks noGrp="1"/>
          </p:cNvSpPr>
          <p:nvPr>
            <p:ph type="title"/>
          </p:nvPr>
        </p:nvSpPr>
        <p:spPr>
          <a:xfrm>
            <a:off x="812800" y="2062510"/>
            <a:ext cx="10883392" cy="1422400"/>
          </a:xfrm>
          <a:prstGeom prst="rect">
            <a:avLst/>
          </a:prstGeom>
          <a:noFill/>
          <a:ln/>
        </p:spPr>
        <p:txBody>
          <a:bodyPr wrap="square" lIns="0" tIns="0" rIns="0" bIns="0" rtlCol="0" anchor="t">
            <a:normAutofit/>
          </a:bodyPr>
          <a:lstStyle/>
          <a:p>
            <a:pPr marL="0" indent="0" algn="l">
              <a:lnSpc>
                <a:spcPts val="11000"/>
              </a:lnSpc>
              <a:buNone/>
            </a:pPr>
            <a:r>
              <a:rPr lang="en-US" sz="11000" b="1" i="0" dirty="0">
                <a:solidFill>
                  <a:srgbClr val="E8EDF4"/>
                </a:solidFill>
                <a:latin typeface="IBM Plex Sans" pitchFamily="34" charset="0"/>
                <a:ea typeface="IBM Plex Sans" pitchFamily="34" charset="-122"/>
                <a:cs typeface="IBM Plex Sans" pitchFamily="34" charset="-120"/>
              </a:rPr>
              <a:t>Shodan</a:t>
            </a:r>
            <a:endParaRPr lang="en-US" sz="11000" dirty="0"/>
          </a:p>
        </p:txBody>
      </p:sp>
      <p:sp>
        <p:nvSpPr>
          <p:cNvPr id="4" name="Text 2"/>
          <p:cNvSpPr/>
          <p:nvPr/>
        </p:nvSpPr>
        <p:spPr>
          <a:xfrm>
            <a:off x="812800" y="3611910"/>
            <a:ext cx="10883392" cy="452090"/>
          </a:xfrm>
          <a:prstGeom prst="rect">
            <a:avLst/>
          </a:prstGeom>
          <a:noFill/>
          <a:ln/>
        </p:spPr>
        <p:txBody>
          <a:bodyPr wrap="square" lIns="0" tIns="0" rIns="0" bIns="0" rtlCol="0" anchor="t">
            <a:normAutofit/>
          </a:bodyPr>
          <a:lstStyle/>
          <a:p>
            <a:pPr marL="0" indent="0" algn="l">
              <a:lnSpc>
                <a:spcPts val="3360"/>
              </a:lnSpc>
              <a:buNone/>
            </a:pPr>
            <a:r>
              <a:rPr lang="en-US" sz="2800" dirty="0">
                <a:solidFill>
                  <a:srgbClr val="C9D6E8"/>
                </a:solidFill>
                <a:latin typeface="IBM Plex Sans" pitchFamily="34" charset="0"/>
                <a:ea typeface="IBM Plex Sans" pitchFamily="34" charset="-122"/>
                <a:cs typeface="IBM Plex Sans" pitchFamily="34" charset="-120"/>
              </a:rPr>
              <a:t>El buscador de lo que Internet deja abierto</a:t>
            </a:r>
            <a:endParaRPr lang="en-US" sz="2800" dirty="0"/>
          </a:p>
        </p:txBody>
      </p:sp>
      <p:sp>
        <p:nvSpPr>
          <p:cNvPr id="5" name="Text 3"/>
          <p:cNvSpPr/>
          <p:nvPr/>
        </p:nvSpPr>
        <p:spPr>
          <a:xfrm>
            <a:off x="812800" y="41910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FB0C6"/>
                </a:solidFill>
                <a:latin typeface="IBM Plex Sans" pitchFamily="34" charset="0"/>
                <a:ea typeface="IBM Plex Sans" pitchFamily="34" charset="-122"/>
                <a:cs typeface="IBM Plex Sans" pitchFamily="34" charset="-120"/>
              </a:rPr>
              <a:t>Panorama agregado de Costa Rica, con herramientas reales</a:t>
            </a:r>
            <a:endParaRPr lang="en-US" sz="1600" dirty="0"/>
          </a:p>
        </p:txBody>
      </p:sp>
      <p:sp>
        <p:nvSpPr>
          <p:cNvPr id="6" name="Text 4"/>
          <p:cNvSpPr/>
          <p:nvPr/>
        </p:nvSpPr>
        <p:spPr>
          <a:xfrm>
            <a:off x="812800" y="5476280"/>
            <a:ext cx="4310036"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4"/>
                </a:solidFill>
                <a:latin typeface="IBM Plex Sans" pitchFamily="34" charset="0"/>
                <a:ea typeface="IBM Plex Sans" pitchFamily="34" charset="-122"/>
                <a:cs typeface="IBM Plex Sans" pitchFamily="34" charset="-120"/>
              </a:rPr>
              <a:t>Alejandro Arias Rojas · Mariangel Arias Alfaro</a:t>
            </a:r>
            <a:endParaRPr lang="en-US" sz="1600" dirty="0"/>
          </a:p>
          <a:p>
            <a:pPr marL="0" indent="0" algn="l">
              <a:lnSpc>
                <a:spcPts val="2240"/>
              </a:lnSpc>
              <a:buNone/>
            </a:pPr>
            <a:r>
              <a:rPr lang="en-US" sz="1600" dirty="0">
                <a:solidFill>
                  <a:srgbClr val="9FB0C6"/>
                </a:solidFill>
                <a:latin typeface="IBM Plex Sans" pitchFamily="34" charset="0"/>
                <a:ea typeface="IBM Plex Sans" pitchFamily="34" charset="-122"/>
                <a:cs typeface="IBM Plex Sans" pitchFamily="34" charset="-120"/>
              </a:rPr>
              <a:t>Profesor: Máster W. Mauricio Fernández Araya</a:t>
            </a:r>
            <a:endParaRPr lang="en-US" sz="1600" dirty="0"/>
          </a:p>
        </p:txBody>
      </p:sp>
      <p:sp>
        <p:nvSpPr>
          <p:cNvPr id="7" name="Text 5"/>
          <p:cNvSpPr/>
          <p:nvPr/>
        </p:nvSpPr>
        <p:spPr>
          <a:xfrm>
            <a:off x="7538720" y="5831880"/>
            <a:ext cx="38404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C6"/>
                </a:solidFill>
                <a:latin typeface="JetBrains Mono" pitchFamily="49" charset="0"/>
                <a:ea typeface="JetBrains Mono" pitchFamily="49" charset="-122"/>
                <a:cs typeface="JetBrains Mono" pitchFamily="49" charset="-120"/>
              </a:rPr>
              <a:t>29 oct 2026 · UCR Sede de Occidente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654D"/>
                </a:solidFill>
                <a:latin typeface="JetBrains Mono" pitchFamily="49" charset="0"/>
                <a:ea typeface="JetBrains Mono" pitchFamily="49" charset="-122"/>
                <a:cs typeface="JetBrains Mono" pitchFamily="49" charset="-120"/>
              </a:rPr>
              <a:t>01 · DEFINICIÓN</a:t>
            </a:r>
            <a:endParaRPr lang="en-US" sz="1200" dirty="0"/>
          </a:p>
        </p:txBody>
      </p:sp>
      <p:sp>
        <p:nvSpPr>
          <p:cNvPr id="3" name="Text 1"/>
          <p:cNvSpPr>
            <a:spLocks noGrp="1"/>
          </p:cNvSpPr>
          <p:nvPr>
            <p:ph type="title"/>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E8EDF4"/>
                </a:solidFill>
                <a:latin typeface="IBM Plex Sans" pitchFamily="34" charset="0"/>
                <a:ea typeface="IBM Plex Sans" pitchFamily="34" charset="-122"/>
                <a:cs typeface="IBM Plex Sans" pitchFamily="34" charset="-120"/>
              </a:rPr>
              <a:t>Google busca páginas. Shodan busca servicios.</a:t>
            </a:r>
            <a:endParaRPr lang="en-US" sz="3600" dirty="0"/>
          </a:p>
        </p:txBody>
      </p:sp>
      <p:sp>
        <p:nvSpPr>
          <p:cNvPr id="4" name="Shape 2"/>
          <p:cNvSpPr/>
          <p:nvPr/>
        </p:nvSpPr>
        <p:spPr>
          <a:xfrm>
            <a:off x="815975" y="2141786"/>
            <a:ext cx="5168900" cy="1502370"/>
          </a:xfrm>
          <a:prstGeom prst="roundRect">
            <a:avLst>
              <a:gd name="adj" fmla="val 6551"/>
            </a:avLst>
          </a:prstGeom>
          <a:solidFill>
            <a:srgbClr val="16233A"/>
          </a:solidFill>
          <a:ln w="6350">
            <a:solidFill>
              <a:srgbClr val="26385A"/>
            </a:solidFill>
            <a:prstDash val="solid"/>
          </a:ln>
        </p:spPr>
        <p:txBody>
          <a:bodyPr/>
          <a:lstStyle/>
          <a:p>
            <a:endParaRPr lang="es-ES_tradnl"/>
          </a:p>
        </p:txBody>
      </p:sp>
      <p:sp>
        <p:nvSpPr>
          <p:cNvPr id="5" name="Text 3"/>
          <p:cNvSpPr/>
          <p:nvPr/>
        </p:nvSpPr>
        <p:spPr>
          <a:xfrm>
            <a:off x="1073150" y="2398961"/>
            <a:ext cx="479418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C9D6E8"/>
                </a:solidFill>
                <a:latin typeface="IBM Plex Sans" pitchFamily="34" charset="0"/>
                <a:ea typeface="IBM Plex Sans" pitchFamily="34" charset="-122"/>
                <a:cs typeface="IBM Plex Sans" pitchFamily="34" charset="-120"/>
              </a:rPr>
              <a:t>Google, Bing</a:t>
            </a:r>
            <a:endParaRPr lang="en-US" sz="2000" dirty="0"/>
          </a:p>
        </p:txBody>
      </p:sp>
      <p:sp>
        <p:nvSpPr>
          <p:cNvPr id="6" name="Text 4"/>
          <p:cNvSpPr/>
          <p:nvPr/>
        </p:nvSpPr>
        <p:spPr>
          <a:xfrm>
            <a:off x="1073150" y="2805361"/>
            <a:ext cx="4794187"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FB0C6"/>
                </a:solidFill>
                <a:latin typeface="IBM Plex Sans" pitchFamily="34" charset="0"/>
                <a:ea typeface="IBM Plex Sans" pitchFamily="34" charset="-122"/>
                <a:cs typeface="IBM Plex Sans" pitchFamily="34" charset="-120"/>
              </a:rPr>
              <a:t>Rastrean sitios web y guardan su contenido.</a:t>
            </a:r>
            <a:endParaRPr lang="en-US" sz="1600" dirty="0"/>
          </a:p>
        </p:txBody>
      </p:sp>
      <p:sp>
        <p:nvSpPr>
          <p:cNvPr id="7" name="Shape 5"/>
          <p:cNvSpPr/>
          <p:nvPr/>
        </p:nvSpPr>
        <p:spPr>
          <a:xfrm>
            <a:off x="6197600" y="2144961"/>
            <a:ext cx="5175250" cy="1496020"/>
          </a:xfrm>
          <a:prstGeom prst="roundRect">
            <a:avLst>
              <a:gd name="adj" fmla="val 6367"/>
            </a:avLst>
          </a:prstGeom>
          <a:solidFill>
            <a:srgbClr val="16233A"/>
          </a:solidFill>
          <a:ln w="12700">
            <a:solidFill>
              <a:srgbClr val="F0654D"/>
            </a:solidFill>
            <a:prstDash val="solid"/>
          </a:ln>
        </p:spPr>
        <p:txBody>
          <a:bodyPr/>
          <a:lstStyle/>
          <a:p>
            <a:endParaRPr lang="es-ES_tradnl"/>
          </a:p>
        </p:txBody>
      </p:sp>
      <p:sp>
        <p:nvSpPr>
          <p:cNvPr id="8" name="Text 6"/>
          <p:cNvSpPr/>
          <p:nvPr/>
        </p:nvSpPr>
        <p:spPr>
          <a:xfrm>
            <a:off x="6457950" y="2405311"/>
            <a:ext cx="479418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0654D"/>
                </a:solidFill>
                <a:latin typeface="IBM Plex Sans" pitchFamily="34" charset="0"/>
                <a:ea typeface="IBM Plex Sans" pitchFamily="34" charset="-122"/>
                <a:cs typeface="IBM Plex Sans" pitchFamily="34" charset="-120"/>
              </a:rPr>
              <a:t>Shodan</a:t>
            </a:r>
            <a:endParaRPr lang="en-US" sz="2000" dirty="0"/>
          </a:p>
        </p:txBody>
      </p:sp>
      <p:sp>
        <p:nvSpPr>
          <p:cNvPr id="9" name="Text 7"/>
          <p:cNvSpPr/>
          <p:nvPr/>
        </p:nvSpPr>
        <p:spPr>
          <a:xfrm>
            <a:off x="6457950" y="2811711"/>
            <a:ext cx="4794187"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4"/>
                </a:solidFill>
                <a:latin typeface="IBM Plex Sans" pitchFamily="34" charset="0"/>
                <a:ea typeface="IBM Plex Sans" pitchFamily="34" charset="-122"/>
                <a:cs typeface="IBM Plex Sans" pitchFamily="34" charset="-120"/>
              </a:rPr>
              <a:t>Rastrea Internet, reúne información de los dispositivos conectados y la guarda como banner.</a:t>
            </a:r>
            <a:endParaRPr lang="en-US" sz="1600" dirty="0"/>
          </a:p>
        </p:txBody>
      </p:sp>
      <p:sp>
        <p:nvSpPr>
          <p:cNvPr id="10" name="Shape 8"/>
          <p:cNvSpPr/>
          <p:nvPr/>
        </p:nvSpPr>
        <p:spPr>
          <a:xfrm>
            <a:off x="815975" y="3955306"/>
            <a:ext cx="10560050" cy="1502370"/>
          </a:xfrm>
          <a:prstGeom prst="roundRect">
            <a:avLst>
              <a:gd name="adj" fmla="val 4861"/>
            </a:avLst>
          </a:prstGeom>
          <a:solidFill>
            <a:srgbClr val="0A111D"/>
          </a:solidFill>
          <a:ln w="6350">
            <a:solidFill>
              <a:srgbClr val="26385A"/>
            </a:solidFill>
            <a:prstDash val="solid"/>
          </a:ln>
        </p:spPr>
        <p:txBody>
          <a:bodyPr/>
          <a:lstStyle/>
          <a:p>
            <a:endParaRPr lang="es-ES_tradnl"/>
          </a:p>
        </p:txBody>
      </p:sp>
      <p:sp>
        <p:nvSpPr>
          <p:cNvPr id="11" name="Text 9"/>
          <p:cNvSpPr/>
          <p:nvPr/>
        </p:nvSpPr>
        <p:spPr>
          <a:xfrm>
            <a:off x="1073150" y="4161681"/>
            <a:ext cx="103470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CC3B0"/>
                </a:solidFill>
                <a:latin typeface="JetBrains Mono" pitchFamily="49" charset="0"/>
                <a:ea typeface="JetBrains Mono" pitchFamily="49" charset="-122"/>
                <a:cs typeface="JetBrains Mono" pitchFamily="49" charset="-120"/>
              </a:rPr>
              <a:t>Ejemplo ilustrativo de banner</a:t>
            </a:r>
            <a:endParaRPr lang="en-US" sz="1200" dirty="0"/>
          </a:p>
        </p:txBody>
      </p:sp>
      <p:sp>
        <p:nvSpPr>
          <p:cNvPr id="12" name="Text 10"/>
          <p:cNvSpPr/>
          <p:nvPr/>
        </p:nvSpPr>
        <p:spPr>
          <a:xfrm>
            <a:off x="1073150" y="4451201"/>
            <a:ext cx="10347071"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E8EDF4"/>
                </a:solidFill>
                <a:latin typeface="JetBrains Mono" pitchFamily="49" charset="0"/>
                <a:ea typeface="JetBrains Mono" pitchFamily="49" charset="-122"/>
                <a:cs typeface="JetBrains Mono" pitchFamily="49" charset="-120"/>
              </a:rPr>
              <a:t>HTTP/1.1 200 OK</a:t>
            </a:r>
            <a:endParaRPr lang="en-US" sz="1400" dirty="0"/>
          </a:p>
          <a:p>
            <a:pPr marL="0" indent="0" algn="l">
              <a:lnSpc>
                <a:spcPts val="2100"/>
              </a:lnSpc>
              <a:buNone/>
            </a:pPr>
            <a:r>
              <a:rPr lang="en-US" sz="1400" dirty="0">
                <a:solidFill>
                  <a:srgbClr val="E8EDF4"/>
                </a:solidFill>
                <a:latin typeface="JetBrains Mono" pitchFamily="49" charset="0"/>
                <a:ea typeface="JetBrains Mono" pitchFamily="49" charset="-122"/>
                <a:cs typeface="JetBrains Mono" pitchFamily="49" charset="-120"/>
              </a:rPr>
              <a:t>Server: nginx/1.24.0 (Ubuntu)</a:t>
            </a:r>
            <a:endParaRPr lang="en-US" sz="1400" dirty="0"/>
          </a:p>
          <a:p>
            <a:pPr marL="0" indent="0" algn="l">
              <a:lnSpc>
                <a:spcPts val="2100"/>
              </a:lnSpc>
              <a:buNone/>
            </a:pPr>
            <a:r>
              <a:rPr lang="en-US" sz="1400" dirty="0">
                <a:solidFill>
                  <a:srgbClr val="E8EDF4"/>
                </a:solidFill>
                <a:latin typeface="JetBrains Mono" pitchFamily="49" charset="0"/>
                <a:ea typeface="JetBrains Mono" pitchFamily="49" charset="-122"/>
                <a:cs typeface="JetBrains Mono" pitchFamily="49" charset="-120"/>
              </a:rPr>
              <a:t>Content-Type: text/html</a:t>
            </a:r>
            <a:endParaRPr lang="en-US" sz="1400" dirty="0"/>
          </a:p>
        </p:txBody>
      </p:sp>
      <p:sp>
        <p:nvSpPr>
          <p:cNvPr id="13" name="Text 11"/>
          <p:cNvSpPr/>
          <p:nvPr/>
        </p:nvSpPr>
        <p:spPr>
          <a:xfrm>
            <a:off x="812800" y="6238280"/>
            <a:ext cx="44988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JetBrains Mono" pitchFamily="49" charset="0"/>
                <a:ea typeface="JetBrains Mono" pitchFamily="49" charset="-122"/>
                <a:cs typeface="JetBrains Mono" pitchFamily="49" charset="-120"/>
              </a:rPr>
              <a:t>Fuente: Shodan (s. f.-f), What is Shodan?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8432E"/>
                </a:solidFill>
                <a:latin typeface="JetBrains Mono" pitchFamily="49" charset="0"/>
                <a:ea typeface="JetBrains Mono" pitchFamily="49" charset="-122"/>
                <a:cs typeface="JetBrains Mono" pitchFamily="49" charset="-120"/>
              </a:rPr>
              <a:t>02 · IMPORTANCIA</a:t>
            </a:r>
            <a:endParaRPr lang="en-US" sz="1200" dirty="0"/>
          </a:p>
        </p:txBody>
      </p:sp>
      <p:sp>
        <p:nvSpPr>
          <p:cNvPr id="3" name="Text 1"/>
          <p:cNvSpPr>
            <a:spLocks noGrp="1"/>
          </p:cNvSpPr>
          <p:nvPr>
            <p:ph type="title"/>
          </p:nvPr>
        </p:nvSpPr>
        <p:spPr>
          <a:xfrm>
            <a:off x="812800" y="13309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02F"/>
                </a:solidFill>
                <a:latin typeface="IBM Plex Sans" pitchFamily="34" charset="0"/>
                <a:ea typeface="IBM Plex Sans" pitchFamily="34" charset="-122"/>
                <a:cs typeface="IBM Plex Sans" pitchFamily="34" charset="-120"/>
              </a:rPr>
              <a:t>La misma herramienta sirve a quien defiende y a quien busca objetivos</a:t>
            </a:r>
            <a:endParaRPr lang="en-US" sz="3600" dirty="0"/>
          </a:p>
        </p:txBody>
      </p:sp>
      <p:sp>
        <p:nvSpPr>
          <p:cNvPr id="4" name="Shape 2"/>
          <p:cNvSpPr/>
          <p:nvPr/>
        </p:nvSpPr>
        <p:spPr>
          <a:xfrm>
            <a:off x="815975" y="2644676"/>
            <a:ext cx="3384550" cy="2017911"/>
          </a:xfrm>
          <a:prstGeom prst="roundRect">
            <a:avLst>
              <a:gd name="adj" fmla="val 4878"/>
            </a:avLst>
          </a:prstGeom>
          <a:solidFill>
            <a:srgbClr val="FFFFFF"/>
          </a:solidFill>
          <a:ln w="6350">
            <a:solidFill>
              <a:srgbClr val="DDD8CC"/>
            </a:solidFill>
            <a:prstDash val="solid"/>
          </a:ln>
        </p:spPr>
        <p:txBody>
          <a:bodyPr/>
          <a:lstStyle/>
          <a:p>
            <a:endParaRPr lang="es-ES_tradnl"/>
          </a:p>
        </p:txBody>
      </p:sp>
      <p:sp>
        <p:nvSpPr>
          <p:cNvPr id="5" name="Text 3"/>
          <p:cNvSpPr/>
          <p:nvPr/>
        </p:nvSpPr>
        <p:spPr>
          <a:xfrm>
            <a:off x="1073150" y="2901851"/>
            <a:ext cx="29563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8C7E"/>
                </a:solidFill>
                <a:latin typeface="IBM Plex Sans" pitchFamily="34" charset="0"/>
                <a:ea typeface="IBM Plex Sans" pitchFamily="34" charset="-122"/>
                <a:cs typeface="IBM Plex Sans" pitchFamily="34" charset="-120"/>
              </a:rPr>
              <a:t>Defender</a:t>
            </a:r>
            <a:endParaRPr lang="en-US" sz="2000" dirty="0"/>
          </a:p>
        </p:txBody>
      </p:sp>
      <p:sp>
        <p:nvSpPr>
          <p:cNvPr id="6" name="Text 4"/>
          <p:cNvSpPr/>
          <p:nvPr/>
        </p:nvSpPr>
        <p:spPr>
          <a:xfrm>
            <a:off x="1073150" y="3308251"/>
            <a:ext cx="2956306" cy="112256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6202F"/>
                </a:solidFill>
                <a:latin typeface="IBM Plex Sans" pitchFamily="34" charset="0"/>
                <a:ea typeface="IBM Plex Sans" pitchFamily="34" charset="-122"/>
                <a:cs typeface="IBM Plex Sans" pitchFamily="34" charset="-120"/>
              </a:rPr>
              <a:t>Verse desde afuera: seguridad de redes, riesgo de proveedores, seguimiento de IoT.</a:t>
            </a:r>
            <a:endParaRPr lang="en-US" sz="1600" dirty="0"/>
          </a:p>
        </p:txBody>
      </p:sp>
      <p:sp>
        <p:nvSpPr>
          <p:cNvPr id="7" name="Shape 5"/>
          <p:cNvSpPr/>
          <p:nvPr/>
        </p:nvSpPr>
        <p:spPr>
          <a:xfrm>
            <a:off x="4410075" y="2644676"/>
            <a:ext cx="3384550" cy="2017911"/>
          </a:xfrm>
          <a:prstGeom prst="roundRect">
            <a:avLst>
              <a:gd name="adj" fmla="val 4878"/>
            </a:avLst>
          </a:prstGeom>
          <a:solidFill>
            <a:srgbClr val="FFFFFF"/>
          </a:solidFill>
          <a:ln w="6350">
            <a:solidFill>
              <a:srgbClr val="DDD8CC"/>
            </a:solidFill>
            <a:prstDash val="solid"/>
          </a:ln>
        </p:spPr>
        <p:txBody>
          <a:bodyPr/>
          <a:lstStyle/>
          <a:p>
            <a:endParaRPr lang="es-ES_tradnl"/>
          </a:p>
        </p:txBody>
      </p:sp>
      <p:sp>
        <p:nvSpPr>
          <p:cNvPr id="8" name="Text 6"/>
          <p:cNvSpPr/>
          <p:nvPr/>
        </p:nvSpPr>
        <p:spPr>
          <a:xfrm>
            <a:off x="4667250" y="2901851"/>
            <a:ext cx="29563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C8432E"/>
                </a:solidFill>
                <a:latin typeface="IBM Plex Sans" pitchFamily="34" charset="0"/>
                <a:ea typeface="IBM Plex Sans" pitchFamily="34" charset="-122"/>
                <a:cs typeface="IBM Plex Sans" pitchFamily="34" charset="-120"/>
              </a:rPr>
              <a:t>Atacar</a:t>
            </a:r>
            <a:endParaRPr lang="en-US" sz="2000" dirty="0"/>
          </a:p>
        </p:txBody>
      </p:sp>
      <p:sp>
        <p:nvSpPr>
          <p:cNvPr id="9" name="Text 7"/>
          <p:cNvSpPr/>
          <p:nvPr/>
        </p:nvSpPr>
        <p:spPr>
          <a:xfrm>
            <a:off x="4667250" y="3308251"/>
            <a:ext cx="2956306" cy="84827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6202F"/>
                </a:solidFill>
                <a:latin typeface="IBM Plex Sans" pitchFamily="34" charset="0"/>
                <a:ea typeface="IBM Plex Sans" pitchFamily="34" charset="-122"/>
                <a:cs typeface="IBM Plex Sans" pitchFamily="34" charset="-120"/>
              </a:rPr>
              <a:t>Reconocimiento: Bodenheim et al. (2014) lo advierten para equipos industriales.</a:t>
            </a:r>
            <a:endParaRPr lang="en-US" sz="1600" dirty="0"/>
          </a:p>
        </p:txBody>
      </p:sp>
      <p:sp>
        <p:nvSpPr>
          <p:cNvPr id="10" name="Shape 8"/>
          <p:cNvSpPr/>
          <p:nvPr/>
        </p:nvSpPr>
        <p:spPr>
          <a:xfrm>
            <a:off x="8001000" y="2641501"/>
            <a:ext cx="3378200" cy="2024261"/>
          </a:xfrm>
          <a:prstGeom prst="roundRect">
            <a:avLst>
              <a:gd name="adj" fmla="val 5019"/>
            </a:avLst>
          </a:prstGeom>
          <a:solidFill>
            <a:srgbClr val="16202F"/>
          </a:solidFill>
          <a:ln/>
        </p:spPr>
        <p:txBody>
          <a:bodyPr/>
          <a:lstStyle/>
          <a:p>
            <a:endParaRPr lang="es-ES_tradnl"/>
          </a:p>
        </p:txBody>
      </p:sp>
      <p:sp>
        <p:nvSpPr>
          <p:cNvPr id="11" name="Text 9"/>
          <p:cNvSpPr/>
          <p:nvPr/>
        </p:nvSpPr>
        <p:spPr>
          <a:xfrm>
            <a:off x="8255000" y="2895501"/>
            <a:ext cx="295630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4F1EA"/>
                </a:solidFill>
                <a:latin typeface="IBM Plex Sans" pitchFamily="34" charset="0"/>
                <a:ea typeface="IBM Plex Sans" pitchFamily="34" charset="-122"/>
                <a:cs typeface="IBM Plex Sans" pitchFamily="34" charset="-120"/>
              </a:rPr>
              <a:t>Costa Rica</a:t>
            </a:r>
            <a:endParaRPr lang="en-US" sz="2000" dirty="0"/>
          </a:p>
        </p:txBody>
      </p:sp>
      <p:sp>
        <p:nvSpPr>
          <p:cNvPr id="12" name="Text 10"/>
          <p:cNvSpPr/>
          <p:nvPr/>
        </p:nvSpPr>
        <p:spPr>
          <a:xfrm>
            <a:off x="8255000" y="3276501"/>
            <a:ext cx="295630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F0654D"/>
                </a:solidFill>
                <a:latin typeface="IBM Plex Sans" pitchFamily="34" charset="0"/>
                <a:ea typeface="IBM Plex Sans" pitchFamily="34" charset="-122"/>
                <a:cs typeface="IBM Plex Sans" pitchFamily="34" charset="-120"/>
              </a:rPr>
              <a:t>292,152</a:t>
            </a:r>
            <a:endParaRPr lang="en-US" sz="4800" dirty="0"/>
          </a:p>
        </p:txBody>
      </p:sp>
      <p:sp>
        <p:nvSpPr>
          <p:cNvPr id="13" name="Text 11"/>
          <p:cNvSpPr/>
          <p:nvPr/>
        </p:nvSpPr>
        <p:spPr>
          <a:xfrm>
            <a:off x="8255000" y="3962301"/>
            <a:ext cx="295630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C9D6E8"/>
                </a:solidFill>
                <a:latin typeface="IBM Plex Sans" pitchFamily="34" charset="0"/>
                <a:ea typeface="IBM Plex Sans" pitchFamily="34" charset="-122"/>
                <a:cs typeface="IBM Plex Sans" pitchFamily="34" charset="-120"/>
              </a:rPr>
              <a:t>servicios indexados, 27 oct 2026</a:t>
            </a:r>
            <a:endParaRPr lang="en-US" sz="1400" dirty="0"/>
          </a:p>
        </p:txBody>
      </p:sp>
      <p:sp>
        <p:nvSpPr>
          <p:cNvPr id="14" name="Text 12"/>
          <p:cNvSpPr/>
          <p:nvPr/>
        </p:nvSpPr>
        <p:spPr>
          <a:xfrm>
            <a:off x="812800" y="6238280"/>
            <a:ext cx="73516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JetBrains Mono" pitchFamily="49" charset="0"/>
                <a:ea typeface="JetBrains Mono" pitchFamily="49" charset="-122"/>
                <a:cs typeface="JetBrains Mono" pitchFamily="49" charset="-120"/>
              </a:rPr>
              <a:t>Fuentes: Shodan (s. f.-f) · Bodenheim et al. (2014) · datos propios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654D"/>
                </a:solidFill>
                <a:latin typeface="JetBrains Mono" pitchFamily="49" charset="0"/>
                <a:ea typeface="JetBrains Mono" pitchFamily="49" charset="-122"/>
                <a:cs typeface="JetBrains Mono" pitchFamily="49" charset="-120"/>
              </a:rPr>
              <a:t>03 · CARACTERÍSTICAS</a:t>
            </a:r>
            <a:endParaRPr lang="en-US" sz="1200" dirty="0"/>
          </a:p>
        </p:txBody>
      </p:sp>
      <p:sp>
        <p:nvSpPr>
          <p:cNvPr id="3" name="Text 1"/>
          <p:cNvSpPr>
            <a:spLocks noGrp="1"/>
          </p:cNvSpPr>
          <p:nvPr>
            <p:ph type="title"/>
          </p:nvPr>
        </p:nvSpPr>
        <p:spPr>
          <a:xfrm>
            <a:off x="812800" y="13309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E8EDF4"/>
                </a:solidFill>
                <a:latin typeface="IBM Plex Sans" pitchFamily="34" charset="0"/>
                <a:ea typeface="IBM Plex Sans" pitchFamily="34" charset="-122"/>
                <a:cs typeface="IBM Plex Sans" pitchFamily="34" charset="-120"/>
              </a:rPr>
              <a:t>Cuatro cosas que hay que dominar</a:t>
            </a:r>
            <a:endParaRPr lang="en-US" sz="3600" dirty="0"/>
          </a:p>
        </p:txBody>
      </p:sp>
      <p:sp>
        <p:nvSpPr>
          <p:cNvPr id="4" name="Shape 2"/>
          <p:cNvSpPr/>
          <p:nvPr/>
        </p:nvSpPr>
        <p:spPr>
          <a:xfrm>
            <a:off x="815975" y="2141786"/>
            <a:ext cx="5200650" cy="1454100"/>
          </a:xfrm>
          <a:prstGeom prst="roundRect">
            <a:avLst>
              <a:gd name="adj" fmla="val 6769"/>
            </a:avLst>
          </a:prstGeom>
          <a:solidFill>
            <a:srgbClr val="16233A"/>
          </a:solidFill>
          <a:ln w="6350">
            <a:solidFill>
              <a:srgbClr val="26385A"/>
            </a:solidFill>
            <a:prstDash val="solid"/>
          </a:ln>
        </p:spPr>
        <p:txBody>
          <a:bodyPr/>
          <a:lstStyle/>
          <a:p>
            <a:endParaRPr lang="es-ES_tradnl"/>
          </a:p>
        </p:txBody>
      </p:sp>
      <p:sp>
        <p:nvSpPr>
          <p:cNvPr id="5" name="Text 3"/>
          <p:cNvSpPr/>
          <p:nvPr/>
        </p:nvSpPr>
        <p:spPr>
          <a:xfrm>
            <a:off x="1047750" y="2373561"/>
            <a:ext cx="487921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8EDF4"/>
                </a:solidFill>
                <a:latin typeface="IBM Plex Sans" pitchFamily="34" charset="0"/>
                <a:ea typeface="IBM Plex Sans" pitchFamily="34" charset="-122"/>
                <a:cs typeface="IBM Plex Sans" pitchFamily="34" charset="-120"/>
              </a:rPr>
              <a:t>Filtros</a:t>
            </a:r>
            <a:endParaRPr lang="en-US" sz="2000" dirty="0"/>
          </a:p>
        </p:txBody>
      </p:sp>
      <p:sp>
        <p:nvSpPr>
          <p:cNvPr id="6" name="Text 4"/>
          <p:cNvSpPr/>
          <p:nvPr/>
        </p:nvSpPr>
        <p:spPr>
          <a:xfrm>
            <a:off x="1047750" y="2754561"/>
            <a:ext cx="487921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CC3B0"/>
                </a:solidFill>
                <a:latin typeface="JetBrains Mono" pitchFamily="49" charset="0"/>
                <a:ea typeface="JetBrains Mono" pitchFamily="49" charset="-122"/>
                <a:cs typeface="JetBrains Mono" pitchFamily="49" charset="-120"/>
              </a:rPr>
              <a:t>country:CR port:22</a:t>
            </a:r>
            <a:endParaRPr lang="en-US" sz="1400" dirty="0"/>
          </a:p>
        </p:txBody>
      </p:sp>
      <p:sp>
        <p:nvSpPr>
          <p:cNvPr id="7" name="Text 5"/>
          <p:cNvSpPr/>
          <p:nvPr/>
        </p:nvSpPr>
        <p:spPr>
          <a:xfrm>
            <a:off x="1047750" y="3079651"/>
            <a:ext cx="487921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B0C6"/>
                </a:solidFill>
                <a:latin typeface="IBM Plex Sans" pitchFamily="34" charset="0"/>
                <a:ea typeface="IBM Plex Sans" pitchFamily="34" charset="-122"/>
                <a:cs typeface="IBM Plex Sans" pitchFamily="34" charset="-120"/>
              </a:rPr>
              <a:t>nombre:valor, sin espacios, combinables</a:t>
            </a:r>
            <a:endParaRPr lang="en-US" sz="1400" dirty="0"/>
          </a:p>
        </p:txBody>
      </p:sp>
      <p:sp>
        <p:nvSpPr>
          <p:cNvPr id="8" name="Shape 6"/>
          <p:cNvSpPr/>
          <p:nvPr/>
        </p:nvSpPr>
        <p:spPr>
          <a:xfrm>
            <a:off x="6175375" y="2141786"/>
            <a:ext cx="5200650" cy="1454100"/>
          </a:xfrm>
          <a:prstGeom prst="roundRect">
            <a:avLst>
              <a:gd name="adj" fmla="val 6769"/>
            </a:avLst>
          </a:prstGeom>
          <a:solidFill>
            <a:srgbClr val="16233A"/>
          </a:solidFill>
          <a:ln w="6350">
            <a:solidFill>
              <a:srgbClr val="26385A"/>
            </a:solidFill>
            <a:prstDash val="solid"/>
          </a:ln>
        </p:spPr>
        <p:txBody>
          <a:bodyPr/>
          <a:lstStyle/>
          <a:p>
            <a:endParaRPr lang="es-ES_tradnl"/>
          </a:p>
        </p:txBody>
      </p:sp>
      <p:sp>
        <p:nvSpPr>
          <p:cNvPr id="9" name="Text 7"/>
          <p:cNvSpPr/>
          <p:nvPr/>
        </p:nvSpPr>
        <p:spPr>
          <a:xfrm>
            <a:off x="6407150" y="2373561"/>
            <a:ext cx="487921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8EDF4"/>
                </a:solidFill>
                <a:latin typeface="IBM Plex Sans" pitchFamily="34" charset="0"/>
                <a:ea typeface="IBM Plex Sans" pitchFamily="34" charset="-122"/>
                <a:cs typeface="IBM Plex Sans" pitchFamily="34" charset="-120"/>
              </a:rPr>
              <a:t>Facets</a:t>
            </a:r>
            <a:endParaRPr lang="en-US" sz="2000" dirty="0"/>
          </a:p>
        </p:txBody>
      </p:sp>
      <p:sp>
        <p:nvSpPr>
          <p:cNvPr id="10" name="Text 8"/>
          <p:cNvSpPr/>
          <p:nvPr/>
        </p:nvSpPr>
        <p:spPr>
          <a:xfrm>
            <a:off x="6407150" y="2754561"/>
            <a:ext cx="487921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4"/>
                </a:solidFill>
                <a:latin typeface="IBM Plex Sans" pitchFamily="34" charset="0"/>
                <a:ea typeface="IBM Plex Sans" pitchFamily="34" charset="-122"/>
                <a:cs typeface="IBM Plex Sans" pitchFamily="34" charset="-120"/>
              </a:rPr>
              <a:t>Rankings agregados de un campo</a:t>
            </a:r>
            <a:endParaRPr lang="en-US" sz="1600" dirty="0"/>
          </a:p>
        </p:txBody>
      </p:sp>
      <p:sp>
        <p:nvSpPr>
          <p:cNvPr id="11" name="Text 9"/>
          <p:cNvSpPr/>
          <p:nvPr/>
        </p:nvSpPr>
        <p:spPr>
          <a:xfrm>
            <a:off x="6407150" y="3115221"/>
            <a:ext cx="487921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B0C6"/>
                </a:solidFill>
                <a:latin typeface="IBM Plex Sans" pitchFamily="34" charset="0"/>
                <a:ea typeface="IBM Plex Sans" pitchFamily="34" charset="-122"/>
                <a:cs typeface="IBM Plex Sans" pitchFamily="34" charset="-120"/>
              </a:rPr>
              <a:t>Base de nuestro panorama de Costa Rica</a:t>
            </a:r>
            <a:endParaRPr lang="en-US" sz="1400" dirty="0"/>
          </a:p>
        </p:txBody>
      </p:sp>
      <p:sp>
        <p:nvSpPr>
          <p:cNvPr id="12" name="Shape 10"/>
          <p:cNvSpPr/>
          <p:nvPr/>
        </p:nvSpPr>
        <p:spPr>
          <a:xfrm>
            <a:off x="815975" y="3754636"/>
            <a:ext cx="5200650" cy="1466800"/>
          </a:xfrm>
          <a:prstGeom prst="roundRect">
            <a:avLst>
              <a:gd name="adj" fmla="val 6710"/>
            </a:avLst>
          </a:prstGeom>
          <a:solidFill>
            <a:srgbClr val="16233A"/>
          </a:solidFill>
          <a:ln w="6350">
            <a:solidFill>
              <a:srgbClr val="26385A"/>
            </a:solidFill>
            <a:prstDash val="solid"/>
          </a:ln>
        </p:spPr>
        <p:txBody>
          <a:bodyPr/>
          <a:lstStyle/>
          <a:p>
            <a:endParaRPr lang="es-ES_tradnl"/>
          </a:p>
        </p:txBody>
      </p:sp>
      <p:sp>
        <p:nvSpPr>
          <p:cNvPr id="13" name="Text 11"/>
          <p:cNvSpPr/>
          <p:nvPr/>
        </p:nvSpPr>
        <p:spPr>
          <a:xfrm>
            <a:off x="1047750" y="3986411"/>
            <a:ext cx="487921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8EDF4"/>
                </a:solidFill>
                <a:latin typeface="IBM Plex Sans" pitchFamily="34" charset="0"/>
                <a:ea typeface="IBM Plex Sans" pitchFamily="34" charset="-122"/>
                <a:cs typeface="IBM Plex Sans" pitchFamily="34" charset="-120"/>
              </a:rPr>
              <a:t>Web, CLI y API</a:t>
            </a:r>
            <a:endParaRPr lang="en-US" sz="2000" dirty="0"/>
          </a:p>
        </p:txBody>
      </p:sp>
      <p:sp>
        <p:nvSpPr>
          <p:cNvPr id="14" name="Text 12"/>
          <p:cNvSpPr/>
          <p:nvPr/>
        </p:nvSpPr>
        <p:spPr>
          <a:xfrm>
            <a:off x="1047750" y="4367411"/>
            <a:ext cx="4879213"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4"/>
                </a:solidFill>
                <a:latin typeface="IBM Plex Sans" pitchFamily="34" charset="0"/>
                <a:ea typeface="IBM Plex Sans" pitchFamily="34" charset="-122"/>
                <a:cs typeface="IBM Plex Sans" pitchFamily="34" charset="-120"/>
              </a:rPr>
              <a:t>Tres puertas al mismo índice</a:t>
            </a:r>
            <a:endParaRPr lang="en-US" sz="1600" dirty="0"/>
          </a:p>
        </p:txBody>
      </p:sp>
      <p:sp>
        <p:nvSpPr>
          <p:cNvPr id="15" name="Text 13"/>
          <p:cNvSpPr/>
          <p:nvPr/>
        </p:nvSpPr>
        <p:spPr>
          <a:xfrm>
            <a:off x="1047750" y="4728071"/>
            <a:ext cx="487921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B0C6"/>
                </a:solidFill>
                <a:latin typeface="IBM Plex Sans" pitchFamily="34" charset="0"/>
                <a:ea typeface="IBM Plex Sans" pitchFamily="34" charset="-122"/>
                <a:cs typeface="IBM Plex Sans" pitchFamily="34" charset="-120"/>
              </a:rPr>
              <a:t>Las tres se usan en este trabajo</a:t>
            </a:r>
            <a:endParaRPr lang="en-US" sz="1400" dirty="0"/>
          </a:p>
        </p:txBody>
      </p:sp>
      <p:sp>
        <p:nvSpPr>
          <p:cNvPr id="16" name="Shape 14"/>
          <p:cNvSpPr/>
          <p:nvPr/>
        </p:nvSpPr>
        <p:spPr>
          <a:xfrm>
            <a:off x="6178550" y="3757811"/>
            <a:ext cx="5194300" cy="1460450"/>
          </a:xfrm>
          <a:prstGeom prst="roundRect">
            <a:avLst>
              <a:gd name="adj" fmla="val 6522"/>
            </a:avLst>
          </a:prstGeom>
          <a:solidFill>
            <a:srgbClr val="16233A"/>
          </a:solidFill>
          <a:ln w="12700">
            <a:solidFill>
              <a:srgbClr val="F0654D"/>
            </a:solidFill>
            <a:prstDash val="solid"/>
          </a:ln>
        </p:spPr>
        <p:txBody>
          <a:bodyPr/>
          <a:lstStyle/>
          <a:p>
            <a:endParaRPr lang="es-ES_tradnl"/>
          </a:p>
        </p:txBody>
      </p:sp>
      <p:sp>
        <p:nvSpPr>
          <p:cNvPr id="17" name="Text 15"/>
          <p:cNvSpPr/>
          <p:nvPr/>
        </p:nvSpPr>
        <p:spPr>
          <a:xfrm>
            <a:off x="6413500" y="3992761"/>
            <a:ext cx="486613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0654D"/>
                </a:solidFill>
                <a:latin typeface="IBM Plex Sans" pitchFamily="34" charset="0"/>
                <a:ea typeface="IBM Plex Sans" pitchFamily="34" charset="-122"/>
                <a:cs typeface="IBM Plex Sans" pitchFamily="34" charset="-120"/>
              </a:rPr>
              <a:t>Créditos</a:t>
            </a:r>
            <a:endParaRPr lang="en-US" sz="2000" dirty="0"/>
          </a:p>
        </p:txBody>
      </p:sp>
      <p:sp>
        <p:nvSpPr>
          <p:cNvPr id="18" name="Text 16"/>
          <p:cNvSpPr/>
          <p:nvPr/>
        </p:nvSpPr>
        <p:spPr>
          <a:xfrm>
            <a:off x="6413500" y="4373761"/>
            <a:ext cx="486613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EDF4"/>
                </a:solidFill>
                <a:latin typeface="IBM Plex Sans" pitchFamily="34" charset="0"/>
                <a:ea typeface="IBM Plex Sans" pitchFamily="34" charset="-122"/>
                <a:cs typeface="IBM Plex Sans" pitchFamily="34" charset="-120"/>
              </a:rPr>
              <a:t>1 crédito = 100 resultados</a:t>
            </a:r>
            <a:endParaRPr lang="en-US" sz="1600" dirty="0"/>
          </a:p>
        </p:txBody>
      </p:sp>
      <p:sp>
        <p:nvSpPr>
          <p:cNvPr id="19" name="Text 17"/>
          <p:cNvSpPr/>
          <p:nvPr/>
        </p:nvSpPr>
        <p:spPr>
          <a:xfrm>
            <a:off x="6413500" y="4734421"/>
            <a:ext cx="486613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FB0C6"/>
                </a:solidFill>
                <a:latin typeface="IBM Plex Sans" pitchFamily="34" charset="0"/>
                <a:ea typeface="IBM Plex Sans" pitchFamily="34" charset="-122"/>
                <a:cs typeface="IBM Plex Sans" pitchFamily="34" charset="-120"/>
              </a:rPr>
              <a:t>count no consume créditos</a:t>
            </a:r>
            <a:endParaRPr lang="en-US" sz="1400" dirty="0"/>
          </a:p>
        </p:txBody>
      </p:sp>
      <p:sp>
        <p:nvSpPr>
          <p:cNvPr id="20" name="Text 18"/>
          <p:cNvSpPr/>
          <p:nvPr/>
        </p:nvSpPr>
        <p:spPr>
          <a:xfrm>
            <a:off x="812800" y="6238280"/>
            <a:ext cx="89976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JetBrains Mono" pitchFamily="49" charset="0"/>
                <a:ea typeface="JetBrains Mono" pitchFamily="49" charset="-122"/>
                <a:cs typeface="JetBrains Mono" pitchFamily="49" charset="-120"/>
              </a:rPr>
              <a:t>Plan académico: 100 créditos de consulta, 100 de escaneo, 16 IPs (Shodan, s. f.-a)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62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8432E"/>
                </a:solidFill>
                <a:latin typeface="JetBrains Mono" pitchFamily="49" charset="0"/>
                <a:ea typeface="JetBrains Mono" pitchFamily="49" charset="-122"/>
                <a:cs typeface="JetBrains Mono" pitchFamily="49" charset="-120"/>
              </a:rPr>
              <a:t>04 · FUNCIONAMIENTO</a:t>
            </a:r>
            <a:endParaRPr lang="en-US" sz="1200" dirty="0"/>
          </a:p>
        </p:txBody>
      </p:sp>
      <p:sp>
        <p:nvSpPr>
          <p:cNvPr id="3" name="Text 1"/>
          <p:cNvSpPr>
            <a:spLocks noGrp="1"/>
          </p:cNvSpPr>
          <p:nvPr>
            <p:ph type="title"/>
          </p:nvPr>
        </p:nvSpPr>
        <p:spPr>
          <a:xfrm>
            <a:off x="812800" y="1229221"/>
            <a:ext cx="10883392" cy="527993"/>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02F"/>
                </a:solidFill>
                <a:latin typeface="IBM Plex Sans" pitchFamily="34" charset="0"/>
                <a:ea typeface="IBM Plex Sans" pitchFamily="34" charset="-122"/>
                <a:cs typeface="IBM Plex Sans" pitchFamily="34" charset="-120"/>
              </a:rPr>
              <a:t>Usted consulta una copia, no el dispositivo</a:t>
            </a:r>
            <a:endParaRPr lang="en-US" sz="3600" dirty="0"/>
          </a:p>
        </p:txBody>
      </p:sp>
      <p:pic>
        <p:nvPicPr>
          <p:cNvPr id="4" name="Image 0" descr="Flujo: Internet, rastreadores, banner, índice, consulta por web, CLI o API"/>
          <p:cNvPicPr>
            <a:picLocks noChangeAspect="1"/>
          </p:cNvPicPr>
          <p:nvPr/>
        </p:nvPicPr>
        <p:blipFill>
          <a:blip r:embed="rId3"/>
          <a:srcRect t="-373" b="-373"/>
          <a:stretch/>
        </p:blipFill>
        <p:spPr>
          <a:xfrm>
            <a:off x="2603500" y="1935014"/>
            <a:ext cx="6985000" cy="2667000"/>
          </a:xfrm>
          <a:prstGeom prst="roundRect">
            <a:avLst>
              <a:gd name="adj" fmla="val 2857"/>
            </a:avLst>
          </a:prstGeom>
        </p:spPr>
      </p:pic>
      <p:sp>
        <p:nvSpPr>
          <p:cNvPr id="5" name="Shape 2"/>
          <p:cNvSpPr/>
          <p:nvPr/>
        </p:nvSpPr>
        <p:spPr>
          <a:xfrm>
            <a:off x="815975" y="4806950"/>
            <a:ext cx="3414167" cy="1031875"/>
          </a:xfrm>
          <a:prstGeom prst="roundRect">
            <a:avLst>
              <a:gd name="adj" fmla="val 7077"/>
            </a:avLst>
          </a:prstGeom>
          <a:solidFill>
            <a:srgbClr val="FFFFFF"/>
          </a:solidFill>
          <a:ln w="6350">
            <a:solidFill>
              <a:srgbClr val="DDD8CC"/>
            </a:solidFill>
            <a:prstDash val="solid"/>
          </a:ln>
        </p:spPr>
        <p:txBody>
          <a:bodyPr/>
          <a:lstStyle/>
          <a:p>
            <a:endParaRPr lang="es-ES_tradnl"/>
          </a:p>
        </p:txBody>
      </p:sp>
      <p:sp>
        <p:nvSpPr>
          <p:cNvPr id="6" name="Text 3"/>
          <p:cNvSpPr/>
          <p:nvPr/>
        </p:nvSpPr>
        <p:spPr>
          <a:xfrm>
            <a:off x="996950" y="4962525"/>
            <a:ext cx="3143783" cy="269032"/>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F"/>
                </a:solidFill>
                <a:latin typeface="IBM Plex Sans" pitchFamily="34" charset="0"/>
                <a:ea typeface="IBM Plex Sans" pitchFamily="34" charset="-122"/>
                <a:cs typeface="IBM Plex Sans" pitchFamily="34" charset="-120"/>
              </a:rPr>
              <a:t>El dato tiene fecha</a:t>
            </a:r>
            <a:endParaRPr lang="en-US" sz="1600" dirty="0"/>
          </a:p>
        </p:txBody>
      </p:sp>
      <p:sp>
        <p:nvSpPr>
          <p:cNvPr id="7" name="Text 4"/>
          <p:cNvSpPr/>
          <p:nvPr/>
        </p:nvSpPr>
        <p:spPr>
          <a:xfrm>
            <a:off x="996950" y="5256957"/>
            <a:ext cx="3143783" cy="451693"/>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IBM Plex Sans" pitchFamily="34" charset="0"/>
                <a:ea typeface="IBM Plex Sans" pitchFamily="34" charset="-122"/>
                <a:cs typeface="IBM Plex Sans" pitchFamily="34" charset="-120"/>
              </a:rPr>
              <a:t>292,118 CLI, 292,152 script, 293,085 web, el mismo día</a:t>
            </a:r>
            <a:endParaRPr lang="en-US" sz="1200" dirty="0"/>
          </a:p>
        </p:txBody>
      </p:sp>
      <p:sp>
        <p:nvSpPr>
          <p:cNvPr id="8" name="Shape 5"/>
          <p:cNvSpPr/>
          <p:nvPr/>
        </p:nvSpPr>
        <p:spPr>
          <a:xfrm>
            <a:off x="4388892" y="4806950"/>
            <a:ext cx="3414216" cy="1031875"/>
          </a:xfrm>
          <a:prstGeom prst="roundRect">
            <a:avLst>
              <a:gd name="adj" fmla="val 7077"/>
            </a:avLst>
          </a:prstGeom>
          <a:solidFill>
            <a:srgbClr val="FFFFFF"/>
          </a:solidFill>
          <a:ln w="6350">
            <a:solidFill>
              <a:srgbClr val="DDD8CC"/>
            </a:solidFill>
            <a:prstDash val="solid"/>
          </a:ln>
        </p:spPr>
        <p:txBody>
          <a:bodyPr/>
          <a:lstStyle/>
          <a:p>
            <a:endParaRPr lang="es-ES_tradnl"/>
          </a:p>
        </p:txBody>
      </p:sp>
      <p:sp>
        <p:nvSpPr>
          <p:cNvPr id="9" name="Text 6"/>
          <p:cNvSpPr/>
          <p:nvPr/>
        </p:nvSpPr>
        <p:spPr>
          <a:xfrm>
            <a:off x="4569867" y="4962525"/>
            <a:ext cx="314383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F"/>
                </a:solidFill>
                <a:latin typeface="IBM Plex Sans" pitchFamily="34" charset="0"/>
                <a:ea typeface="IBM Plex Sans" pitchFamily="34" charset="-122"/>
                <a:cs typeface="IBM Plex Sans" pitchFamily="34" charset="-120"/>
              </a:rPr>
              <a:t>No todo está indexado</a:t>
            </a:r>
            <a:endParaRPr lang="en-US" sz="1600" dirty="0"/>
          </a:p>
        </p:txBody>
      </p:sp>
      <p:sp>
        <p:nvSpPr>
          <p:cNvPr id="10" name="Text 7"/>
          <p:cNvSpPr/>
          <p:nvPr/>
        </p:nvSpPr>
        <p:spPr>
          <a:xfrm>
            <a:off x="4569867" y="5257155"/>
            <a:ext cx="31438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IBM Plex Sans" pitchFamily="34" charset="0"/>
                <a:ea typeface="IBM Plex Sans" pitchFamily="34" charset="-122"/>
                <a:cs typeface="IBM Plex Sans" pitchFamily="34" charset="-120"/>
              </a:rPr>
              <a:t>Una IP propia: sin información</a:t>
            </a:r>
            <a:endParaRPr lang="en-US" sz="1200" dirty="0"/>
          </a:p>
        </p:txBody>
      </p:sp>
      <p:sp>
        <p:nvSpPr>
          <p:cNvPr id="11" name="Shape 8"/>
          <p:cNvSpPr/>
          <p:nvPr/>
        </p:nvSpPr>
        <p:spPr>
          <a:xfrm>
            <a:off x="7961858" y="4806950"/>
            <a:ext cx="3414167" cy="1031875"/>
          </a:xfrm>
          <a:prstGeom prst="roundRect">
            <a:avLst>
              <a:gd name="adj" fmla="val 7077"/>
            </a:avLst>
          </a:prstGeom>
          <a:solidFill>
            <a:srgbClr val="FFFFFF"/>
          </a:solidFill>
          <a:ln w="6350">
            <a:solidFill>
              <a:srgbClr val="DDD8CC"/>
            </a:solidFill>
            <a:prstDash val="solid"/>
          </a:ln>
        </p:spPr>
        <p:txBody>
          <a:bodyPr/>
          <a:lstStyle/>
          <a:p>
            <a:endParaRPr lang="es-ES_tradnl"/>
          </a:p>
        </p:txBody>
      </p:sp>
      <p:sp>
        <p:nvSpPr>
          <p:cNvPr id="12" name="Text 9"/>
          <p:cNvSpPr/>
          <p:nvPr/>
        </p:nvSpPr>
        <p:spPr>
          <a:xfrm>
            <a:off x="8142833" y="4962525"/>
            <a:ext cx="314378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6202F"/>
                </a:solidFill>
                <a:latin typeface="IBM Plex Sans" pitchFamily="34" charset="0"/>
                <a:ea typeface="IBM Plex Sans" pitchFamily="34" charset="-122"/>
                <a:cs typeface="IBM Plex Sans" pitchFamily="34" charset="-120"/>
              </a:rPr>
              <a:t>Cambiar de puerto no esconde</a:t>
            </a:r>
            <a:endParaRPr lang="en-US" sz="1600" dirty="0"/>
          </a:p>
        </p:txBody>
      </p:sp>
      <p:sp>
        <p:nvSpPr>
          <p:cNvPr id="13" name="Text 10"/>
          <p:cNvSpPr/>
          <p:nvPr/>
        </p:nvSpPr>
        <p:spPr>
          <a:xfrm>
            <a:off x="8142833" y="5257155"/>
            <a:ext cx="31437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IBM Plex Sans" pitchFamily="34" charset="0"/>
                <a:ea typeface="IBM Plex Sans" pitchFamily="34" charset="-122"/>
                <a:cs typeface="IBM Plex Sans" pitchFamily="34" charset="-120"/>
              </a:rPr>
              <a:t>Wu et al. (2024)</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8432E"/>
                </a:solidFill>
                <a:latin typeface="JetBrains Mono" pitchFamily="49" charset="0"/>
                <a:ea typeface="JetBrains Mono" pitchFamily="49" charset="-122"/>
                <a:cs typeface="JetBrains Mono" pitchFamily="49" charset="-120"/>
              </a:rPr>
              <a:t>PRÁCTICA 1 · CUENTA ACADÉMICA</a:t>
            </a:r>
            <a:endParaRPr lang="en-US" sz="1200" dirty="0"/>
          </a:p>
        </p:txBody>
      </p:sp>
      <p:sp>
        <p:nvSpPr>
          <p:cNvPr id="3" name="Text 1"/>
          <p:cNvSpPr>
            <a:spLocks noGrp="1"/>
          </p:cNvSpPr>
          <p:nvPr>
            <p:ph type="title"/>
          </p:nvPr>
        </p:nvSpPr>
        <p:spPr>
          <a:xfrm>
            <a:off x="812800" y="12801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F"/>
                </a:solidFill>
                <a:latin typeface="IBM Plex Sans" pitchFamily="34" charset="0"/>
                <a:ea typeface="IBM Plex Sans" pitchFamily="34" charset="-122"/>
                <a:cs typeface="IBM Plex Sans" pitchFamily="34" charset="-120"/>
              </a:rPr>
              <a:t>Un correo @ucr.ac.cr alcanza para el laboratorio</a:t>
            </a:r>
            <a:endParaRPr lang="en-US" sz="3200" dirty="0"/>
          </a:p>
        </p:txBody>
      </p:sp>
      <p:sp>
        <p:nvSpPr>
          <p:cNvPr id="4" name="Shape 2"/>
          <p:cNvSpPr/>
          <p:nvPr/>
        </p:nvSpPr>
        <p:spPr>
          <a:xfrm>
            <a:off x="815975" y="2059980"/>
            <a:ext cx="4057650" cy="859730"/>
          </a:xfrm>
          <a:prstGeom prst="roundRect">
            <a:avLst>
              <a:gd name="adj" fmla="val 8494"/>
            </a:avLst>
          </a:prstGeom>
          <a:solidFill>
            <a:srgbClr val="FFFFFF"/>
          </a:solidFill>
          <a:ln w="6350">
            <a:solidFill>
              <a:srgbClr val="DDD8CC"/>
            </a:solidFill>
            <a:prstDash val="solid"/>
          </a:ln>
        </p:spPr>
        <p:txBody>
          <a:bodyPr/>
          <a:lstStyle/>
          <a:p>
            <a:endParaRPr lang="es-ES_tradnl"/>
          </a:p>
        </p:txBody>
      </p:sp>
      <p:sp>
        <p:nvSpPr>
          <p:cNvPr id="5" name="Text 3"/>
          <p:cNvSpPr/>
          <p:nvPr/>
        </p:nvSpPr>
        <p:spPr>
          <a:xfrm>
            <a:off x="996950" y="2240955"/>
            <a:ext cx="380657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02F"/>
                </a:solidFill>
                <a:latin typeface="IBM Plex Sans" pitchFamily="34" charset="0"/>
                <a:ea typeface="IBM Plex Sans" pitchFamily="34" charset="-122"/>
                <a:cs typeface="IBM Plex Sans" pitchFamily="34" charset="-120"/>
              </a:rPr>
              <a:t>Academic membership</a:t>
            </a:r>
            <a:endParaRPr lang="en-US" sz="1600" dirty="0"/>
          </a:p>
        </p:txBody>
      </p:sp>
      <p:sp>
        <p:nvSpPr>
          <p:cNvPr id="6" name="Text 4"/>
          <p:cNvSpPr/>
          <p:nvPr/>
        </p:nvSpPr>
        <p:spPr>
          <a:xfrm>
            <a:off x="996950" y="2525415"/>
            <a:ext cx="38065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IBM Plex Sans" pitchFamily="34" charset="0"/>
                <a:ea typeface="IBM Plex Sans" pitchFamily="34" charset="-122"/>
                <a:cs typeface="IBM Plex Sans" pitchFamily="34" charset="-120"/>
              </a:rPr>
              <a:t>El panel muestra el nivel de la cuenta</a:t>
            </a:r>
            <a:endParaRPr lang="en-US" sz="1200" dirty="0"/>
          </a:p>
        </p:txBody>
      </p:sp>
      <p:sp>
        <p:nvSpPr>
          <p:cNvPr id="7" name="Shape 5"/>
          <p:cNvSpPr/>
          <p:nvPr/>
        </p:nvSpPr>
        <p:spPr>
          <a:xfrm>
            <a:off x="815975" y="3053060"/>
            <a:ext cx="4057650" cy="859730"/>
          </a:xfrm>
          <a:prstGeom prst="roundRect">
            <a:avLst>
              <a:gd name="adj" fmla="val 8494"/>
            </a:avLst>
          </a:prstGeom>
          <a:solidFill>
            <a:srgbClr val="FFFFFF"/>
          </a:solidFill>
          <a:ln w="6350">
            <a:solidFill>
              <a:srgbClr val="DDD8CC"/>
            </a:solidFill>
            <a:prstDash val="solid"/>
          </a:ln>
        </p:spPr>
        <p:txBody>
          <a:bodyPr/>
          <a:lstStyle/>
          <a:p>
            <a:endParaRPr lang="es-ES_tradnl"/>
          </a:p>
        </p:txBody>
      </p:sp>
      <p:sp>
        <p:nvSpPr>
          <p:cNvPr id="8" name="Text 6"/>
          <p:cNvSpPr/>
          <p:nvPr/>
        </p:nvSpPr>
        <p:spPr>
          <a:xfrm>
            <a:off x="996950" y="3234035"/>
            <a:ext cx="380657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02F"/>
                </a:solidFill>
                <a:latin typeface="IBM Plex Sans" pitchFamily="34" charset="0"/>
                <a:ea typeface="IBM Plex Sans" pitchFamily="34" charset="-122"/>
                <a:cs typeface="IBM Plex Sans" pitchFamily="34" charset="-120"/>
              </a:rPr>
              <a:t>100 + 100 créditos</a:t>
            </a:r>
            <a:endParaRPr lang="en-US" sz="1600" dirty="0"/>
          </a:p>
        </p:txBody>
      </p:sp>
      <p:sp>
        <p:nvSpPr>
          <p:cNvPr id="9" name="Text 7"/>
          <p:cNvSpPr/>
          <p:nvPr/>
        </p:nvSpPr>
        <p:spPr>
          <a:xfrm>
            <a:off x="996950" y="3518495"/>
            <a:ext cx="38065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IBM Plex Sans" pitchFamily="34" charset="0"/>
                <a:ea typeface="IBM Plex Sans" pitchFamily="34" charset="-122"/>
                <a:cs typeface="IBM Plex Sans" pitchFamily="34" charset="-120"/>
              </a:rPr>
              <a:t>Consulta y escaneo, cada mes</a:t>
            </a:r>
            <a:endParaRPr lang="en-US" sz="1200" dirty="0"/>
          </a:p>
        </p:txBody>
      </p:sp>
      <p:sp>
        <p:nvSpPr>
          <p:cNvPr id="10" name="Shape 8"/>
          <p:cNvSpPr/>
          <p:nvPr/>
        </p:nvSpPr>
        <p:spPr>
          <a:xfrm>
            <a:off x="815975" y="4046141"/>
            <a:ext cx="4057650" cy="859730"/>
          </a:xfrm>
          <a:prstGeom prst="roundRect">
            <a:avLst>
              <a:gd name="adj" fmla="val 8494"/>
            </a:avLst>
          </a:prstGeom>
          <a:solidFill>
            <a:srgbClr val="FFFFFF"/>
          </a:solidFill>
          <a:ln w="6350">
            <a:solidFill>
              <a:srgbClr val="DDD8CC"/>
            </a:solidFill>
            <a:prstDash val="solid"/>
          </a:ln>
        </p:spPr>
        <p:txBody>
          <a:bodyPr/>
          <a:lstStyle/>
          <a:p>
            <a:endParaRPr lang="es-ES_tradnl"/>
          </a:p>
        </p:txBody>
      </p:sp>
      <p:sp>
        <p:nvSpPr>
          <p:cNvPr id="11" name="Text 9"/>
          <p:cNvSpPr/>
          <p:nvPr/>
        </p:nvSpPr>
        <p:spPr>
          <a:xfrm>
            <a:off x="996950" y="4227116"/>
            <a:ext cx="380657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6202F"/>
                </a:solidFill>
                <a:latin typeface="IBM Plex Sans" pitchFamily="34" charset="0"/>
                <a:ea typeface="IBM Plex Sans" pitchFamily="34" charset="-122"/>
                <a:cs typeface="IBM Plex Sans" pitchFamily="34" charset="-120"/>
              </a:rPr>
              <a:t>16 IPs monitoreables</a:t>
            </a:r>
            <a:endParaRPr lang="en-US" sz="1600" dirty="0"/>
          </a:p>
        </p:txBody>
      </p:sp>
      <p:sp>
        <p:nvSpPr>
          <p:cNvPr id="12" name="Text 10"/>
          <p:cNvSpPr/>
          <p:nvPr/>
        </p:nvSpPr>
        <p:spPr>
          <a:xfrm>
            <a:off x="996950" y="4511576"/>
            <a:ext cx="380657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IBM Plex Sans" pitchFamily="34" charset="0"/>
                <a:ea typeface="IBM Plex Sans" pitchFamily="34" charset="-122"/>
                <a:cs typeface="IBM Plex Sans" pitchFamily="34" charset="-120"/>
              </a:rPr>
              <a:t>No las usamos</a:t>
            </a:r>
            <a:endParaRPr lang="en-US" sz="1200" dirty="0"/>
          </a:p>
        </p:txBody>
      </p:sp>
      <p:sp>
        <p:nvSpPr>
          <p:cNvPr id="13" name="Shape 11"/>
          <p:cNvSpPr/>
          <p:nvPr/>
        </p:nvSpPr>
        <p:spPr>
          <a:xfrm>
            <a:off x="5181600" y="1981150"/>
            <a:ext cx="6197600" cy="3003550"/>
          </a:xfrm>
          <a:prstGeom prst="roundRect">
            <a:avLst>
              <a:gd name="adj" fmla="val 2537"/>
            </a:avLst>
          </a:prstGeom>
          <a:solidFill>
            <a:srgbClr val="FFFFFF"/>
          </a:solidFill>
          <a:ln/>
        </p:spPr>
        <p:txBody>
          <a:bodyPr/>
          <a:lstStyle/>
          <a:p>
            <a:endParaRPr lang="es-ES_tradnl"/>
          </a:p>
        </p:txBody>
      </p:sp>
      <p:pic>
        <p:nvPicPr>
          <p:cNvPr id="14" name="Image 0" descr="Panel de desarrollador de Shodan con 100 créditos de consulta y 100 de escaneo disponibles"/>
          <p:cNvPicPr>
            <a:picLocks noChangeAspect="1"/>
          </p:cNvPicPr>
          <p:nvPr/>
        </p:nvPicPr>
        <p:blipFill>
          <a:blip r:embed="rId3"/>
          <a:srcRect t="-107" b="-107"/>
          <a:stretch/>
        </p:blipFill>
        <p:spPr>
          <a:xfrm>
            <a:off x="5187950" y="1987500"/>
            <a:ext cx="6184900" cy="2990850"/>
          </a:xfrm>
          <a:prstGeom prst="roundRect">
            <a:avLst>
              <a:gd name="adj" fmla="val 2335"/>
            </a:avLst>
          </a:prstGeom>
        </p:spPr>
      </p:pic>
      <p:sp>
        <p:nvSpPr>
          <p:cNvPr id="15" name="Shape 12"/>
          <p:cNvSpPr/>
          <p:nvPr/>
        </p:nvSpPr>
        <p:spPr>
          <a:xfrm>
            <a:off x="5184775" y="1984325"/>
            <a:ext cx="6191250" cy="2997200"/>
          </a:xfrm>
          <a:prstGeom prst="roundRect">
            <a:avLst>
              <a:gd name="adj" fmla="val 2436"/>
            </a:avLst>
          </a:prstGeom>
          <a:noFill/>
          <a:ln w="6350">
            <a:solidFill>
              <a:srgbClr val="DDD8CC"/>
            </a:solidFill>
            <a:prstDash val="solid"/>
          </a:ln>
        </p:spPr>
        <p:txBody>
          <a:bodyPr/>
          <a:lstStyle/>
          <a:p>
            <a:endParaRPr lang="es-ES_tradnl"/>
          </a:p>
        </p:txBody>
      </p:sp>
      <p:sp>
        <p:nvSpPr>
          <p:cNvPr id="16" name="Text 13"/>
          <p:cNvSpPr/>
          <p:nvPr/>
        </p:nvSpPr>
        <p:spPr>
          <a:xfrm>
            <a:off x="812800" y="6238280"/>
            <a:ext cx="537662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JetBrains Mono" pitchFamily="49" charset="0"/>
                <a:ea typeface="JetBrains Mono" pitchFamily="49" charset="-122"/>
                <a:cs typeface="JetBrains Mono" pitchFamily="49" charset="-120"/>
              </a:rPr>
              <a:t>Captura propia, 27 oct 2026 · clave de API oculta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654D"/>
                </a:solidFill>
                <a:latin typeface="JetBrains Mono" pitchFamily="49" charset="0"/>
                <a:ea typeface="JetBrains Mono" pitchFamily="49" charset="-122"/>
                <a:cs typeface="JetBrains Mono" pitchFamily="49" charset="-120"/>
              </a:rPr>
              <a:t>PRÁCTICA 2 · LA CLI</a:t>
            </a:r>
            <a:endParaRPr lang="en-US" sz="1200" dirty="0"/>
          </a:p>
        </p:txBody>
      </p:sp>
      <p:sp>
        <p:nvSpPr>
          <p:cNvPr id="3" name="Text 1"/>
          <p:cNvSpPr>
            <a:spLocks noGrp="1"/>
          </p:cNvSpPr>
          <p:nvPr>
            <p:ph type="title"/>
          </p:nvPr>
        </p:nvSpPr>
        <p:spPr>
          <a:xfrm>
            <a:off x="812800" y="12801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DF4"/>
                </a:solidFill>
                <a:latin typeface="IBM Plex Sans" pitchFamily="34" charset="0"/>
                <a:ea typeface="IBM Plex Sans" pitchFamily="34" charset="-122"/>
                <a:cs typeface="IBM Plex Sans" pitchFamily="34" charset="-120"/>
              </a:rPr>
              <a:t>Rankings en segundos, sin descargar resultados</a:t>
            </a:r>
            <a:endParaRPr lang="en-US" sz="3200" dirty="0"/>
          </a:p>
        </p:txBody>
      </p:sp>
      <p:sp>
        <p:nvSpPr>
          <p:cNvPr id="4" name="Text 2"/>
          <p:cNvSpPr/>
          <p:nvPr/>
        </p:nvSpPr>
        <p:spPr>
          <a:xfrm>
            <a:off x="815975" y="1984325"/>
            <a:ext cx="3549650" cy="1682750"/>
          </a:xfrm>
          <a:prstGeom prst="roundRect">
            <a:avLst>
              <a:gd name="adj" fmla="val 4340"/>
            </a:avLst>
          </a:prstGeom>
          <a:solidFill>
            <a:srgbClr val="0A111D"/>
          </a:solidFill>
          <a:ln w="6350">
            <a:solidFill>
              <a:srgbClr val="26385A"/>
            </a:solidFill>
            <a:prstDash val="solid"/>
          </a:ln>
        </p:spPr>
        <p:txBody>
          <a:bodyPr wrap="square" lIns="159587" tIns="134187" rIns="63956" bIns="108787" rtlCol="0" anchor="t">
            <a:normAutofit/>
          </a:bodyPr>
          <a:lstStyle/>
          <a:p>
            <a:pPr marL="0" indent="0" algn="l">
              <a:lnSpc>
                <a:spcPts val="1800"/>
              </a:lnSpc>
              <a:buNone/>
            </a:pPr>
            <a:r>
              <a:rPr lang="en-US" sz="1200" dirty="0">
                <a:solidFill>
                  <a:srgbClr val="4CC3B0"/>
                </a:solidFill>
                <a:latin typeface="JetBrains Mono" pitchFamily="49" charset="0"/>
                <a:ea typeface="JetBrains Mono" pitchFamily="49" charset="-122"/>
                <a:cs typeface="JetBrains Mono" pitchFamily="49" charset="-120"/>
              </a:rPr>
              <a:t>shodan info</a:t>
            </a:r>
            <a:endParaRPr lang="en-US" sz="1200" dirty="0"/>
          </a:p>
          <a:p>
            <a:pPr marL="0" indent="0" algn="l">
              <a:lnSpc>
                <a:spcPts val="1800"/>
              </a:lnSpc>
              <a:buNone/>
            </a:pPr>
            <a:r>
              <a:rPr lang="en-US" sz="1200" dirty="0">
                <a:solidFill>
                  <a:srgbClr val="4CC3B0"/>
                </a:solidFill>
                <a:latin typeface="JetBrains Mono" pitchFamily="49" charset="0"/>
                <a:ea typeface="JetBrains Mono" pitchFamily="49" charset="-122"/>
                <a:cs typeface="JetBrains Mono" pitchFamily="49" charset="-120"/>
              </a:rPr>
              <a:t>shodan count country:CR</a:t>
            </a:r>
            <a:endParaRPr lang="en-US" sz="1200" dirty="0"/>
          </a:p>
          <a:p>
            <a:pPr marL="0" indent="0" algn="l">
              <a:lnSpc>
                <a:spcPts val="1800"/>
              </a:lnSpc>
              <a:buNone/>
            </a:pPr>
            <a:r>
              <a:rPr lang="en-US" sz="1200" dirty="0">
                <a:solidFill>
                  <a:srgbClr val="4CC3B0"/>
                </a:solidFill>
                <a:latin typeface="JetBrains Mono" pitchFamily="49" charset="0"/>
                <a:ea typeface="JetBrains Mono" pitchFamily="49" charset="-122"/>
                <a:cs typeface="JetBrains Mono" pitchFamily="49" charset="-120"/>
              </a:rPr>
              <a:t>shodan stats --facets port country:CR</a:t>
            </a:r>
            <a:endParaRPr lang="en-US" sz="1200" dirty="0"/>
          </a:p>
          <a:p>
            <a:pPr marL="0" indent="0" algn="l">
              <a:lnSpc>
                <a:spcPts val="1800"/>
              </a:lnSpc>
              <a:buNone/>
            </a:pPr>
            <a:r>
              <a:rPr lang="en-US" sz="1200" dirty="0">
                <a:solidFill>
                  <a:srgbClr val="4CC3B0"/>
                </a:solidFill>
                <a:latin typeface="JetBrains Mono" pitchFamily="49" charset="0"/>
                <a:ea typeface="JetBrains Mono" pitchFamily="49" charset="-122"/>
                <a:cs typeface="JetBrains Mono" pitchFamily="49" charset="-120"/>
              </a:rPr>
              <a:t>shodan stats --facets product country:CR port:22</a:t>
            </a:r>
            <a:endParaRPr lang="en-US" sz="1200" dirty="0"/>
          </a:p>
        </p:txBody>
      </p:sp>
      <p:sp>
        <p:nvSpPr>
          <p:cNvPr id="5" name="Text 3"/>
          <p:cNvSpPr/>
          <p:nvPr/>
        </p:nvSpPr>
        <p:spPr>
          <a:xfrm>
            <a:off x="812800" y="3797250"/>
            <a:ext cx="3662680"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8EDF4"/>
                </a:solidFill>
                <a:latin typeface="IBM Plex Sans" pitchFamily="34" charset="0"/>
                <a:ea typeface="IBM Plex Sans" pitchFamily="34" charset="-122"/>
                <a:cs typeface="IBM Plex Sans" pitchFamily="34" charset="-120"/>
              </a:rPr>
              <a:t>Puerto 7547 primero, con 68,972 servicios.</a:t>
            </a:r>
            <a:endParaRPr lang="en-US" sz="1600" dirty="0"/>
          </a:p>
        </p:txBody>
      </p:sp>
      <p:sp>
        <p:nvSpPr>
          <p:cNvPr id="6" name="Text 4"/>
          <p:cNvSpPr/>
          <p:nvPr/>
        </p:nvSpPr>
        <p:spPr>
          <a:xfrm>
            <a:off x="812800" y="4472831"/>
            <a:ext cx="3662680"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E8EDF4"/>
                </a:solidFill>
                <a:latin typeface="IBM Plex Sans" pitchFamily="34" charset="0"/>
                <a:ea typeface="IBM Plex Sans" pitchFamily="34" charset="-122"/>
                <a:cs typeface="IBM Plex Sans" pitchFamily="34" charset="-120"/>
              </a:rPr>
              <a:t>SSH: OpenSSH es 1,490 de 3,602 (41.4 %).</a:t>
            </a:r>
            <a:endParaRPr lang="en-US" sz="1600" dirty="0"/>
          </a:p>
        </p:txBody>
      </p:sp>
      <p:sp>
        <p:nvSpPr>
          <p:cNvPr id="7" name="Shape 5"/>
          <p:cNvSpPr/>
          <p:nvPr/>
        </p:nvSpPr>
        <p:spPr>
          <a:xfrm>
            <a:off x="4622800" y="1981150"/>
            <a:ext cx="6096000" cy="1295400"/>
          </a:xfrm>
          <a:prstGeom prst="roundRect">
            <a:avLst>
              <a:gd name="adj" fmla="val 3922"/>
            </a:avLst>
          </a:prstGeom>
          <a:solidFill>
            <a:srgbClr val="0A111D"/>
          </a:solidFill>
          <a:ln/>
        </p:spPr>
        <p:txBody>
          <a:bodyPr/>
          <a:lstStyle/>
          <a:p>
            <a:endParaRPr lang="es-ES_tradnl"/>
          </a:p>
        </p:txBody>
      </p:sp>
      <p:pic>
        <p:nvPicPr>
          <p:cNvPr id="8" name="Image 0" descr="Salida de la CLI: puertos más frecuentes en Costa Rica"/>
          <p:cNvPicPr>
            <a:picLocks noChangeAspect="1"/>
          </p:cNvPicPr>
          <p:nvPr/>
        </p:nvPicPr>
        <p:blipFill>
          <a:blip r:embed="rId3"/>
          <a:srcRect l="-439" r="-439"/>
          <a:stretch/>
        </p:blipFill>
        <p:spPr>
          <a:xfrm>
            <a:off x="4629150" y="1987500"/>
            <a:ext cx="6083300" cy="1282700"/>
          </a:xfrm>
          <a:prstGeom prst="roundRect">
            <a:avLst>
              <a:gd name="adj" fmla="val 3465"/>
            </a:avLst>
          </a:prstGeom>
        </p:spPr>
      </p:pic>
      <p:sp>
        <p:nvSpPr>
          <p:cNvPr id="9" name="Shape 6"/>
          <p:cNvSpPr/>
          <p:nvPr/>
        </p:nvSpPr>
        <p:spPr>
          <a:xfrm>
            <a:off x="4625975" y="1984325"/>
            <a:ext cx="6089650" cy="1289050"/>
          </a:xfrm>
          <a:prstGeom prst="roundRect">
            <a:avLst>
              <a:gd name="adj" fmla="val 3695"/>
            </a:avLst>
          </a:prstGeom>
          <a:noFill/>
          <a:ln w="6350">
            <a:solidFill>
              <a:srgbClr val="26385A"/>
            </a:solidFill>
            <a:prstDash val="solid"/>
          </a:ln>
        </p:spPr>
        <p:txBody>
          <a:bodyPr/>
          <a:lstStyle/>
          <a:p>
            <a:endParaRPr lang="es-ES_tradnl"/>
          </a:p>
        </p:txBody>
      </p:sp>
      <p:sp>
        <p:nvSpPr>
          <p:cNvPr id="10" name="Shape 7"/>
          <p:cNvSpPr/>
          <p:nvPr/>
        </p:nvSpPr>
        <p:spPr>
          <a:xfrm>
            <a:off x="4622800" y="3428950"/>
            <a:ext cx="6096000" cy="1282700"/>
          </a:xfrm>
          <a:prstGeom prst="roundRect">
            <a:avLst>
              <a:gd name="adj" fmla="val 3960"/>
            </a:avLst>
          </a:prstGeom>
          <a:solidFill>
            <a:srgbClr val="0A111D"/>
          </a:solidFill>
          <a:ln/>
        </p:spPr>
        <p:txBody>
          <a:bodyPr/>
          <a:lstStyle/>
          <a:p>
            <a:endParaRPr lang="es-ES_tradnl"/>
          </a:p>
        </p:txBody>
      </p:sp>
      <p:pic>
        <p:nvPicPr>
          <p:cNvPr id="11" name="Image 1" descr="Salida de la CLI: productos en el puerto 22 de Costa Rica"/>
          <p:cNvPicPr>
            <a:picLocks noChangeAspect="1"/>
          </p:cNvPicPr>
          <p:nvPr/>
        </p:nvPicPr>
        <p:blipFill>
          <a:blip r:embed="rId4"/>
          <a:srcRect l="-378" r="-378"/>
          <a:stretch/>
        </p:blipFill>
        <p:spPr>
          <a:xfrm>
            <a:off x="4629150" y="3435300"/>
            <a:ext cx="6083300" cy="1270000"/>
          </a:xfrm>
          <a:prstGeom prst="roundRect">
            <a:avLst>
              <a:gd name="adj" fmla="val 3500"/>
            </a:avLst>
          </a:prstGeom>
        </p:spPr>
      </p:pic>
      <p:sp>
        <p:nvSpPr>
          <p:cNvPr id="12" name="Shape 8"/>
          <p:cNvSpPr/>
          <p:nvPr/>
        </p:nvSpPr>
        <p:spPr>
          <a:xfrm>
            <a:off x="4625975" y="3432125"/>
            <a:ext cx="6089650" cy="1276350"/>
          </a:xfrm>
          <a:prstGeom prst="roundRect">
            <a:avLst>
              <a:gd name="adj" fmla="val 3731"/>
            </a:avLst>
          </a:prstGeom>
          <a:noFill/>
          <a:ln w="6350">
            <a:solidFill>
              <a:srgbClr val="26385A"/>
            </a:solidFill>
            <a:prstDash val="solid"/>
          </a:ln>
        </p:spPr>
        <p:txBody>
          <a:bodyPr/>
          <a:lstStyle/>
          <a:p>
            <a:endParaRPr lang="es-ES_tradnl"/>
          </a:p>
        </p:txBody>
      </p:sp>
      <p:sp>
        <p:nvSpPr>
          <p:cNvPr id="13" name="Text 9"/>
          <p:cNvSpPr/>
          <p:nvPr/>
        </p:nvSpPr>
        <p:spPr>
          <a:xfrm>
            <a:off x="812800" y="6238280"/>
            <a:ext cx="65836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JetBrains Mono" pitchFamily="49" charset="0"/>
                <a:ea typeface="JetBrains Mono" pitchFamily="49" charset="-122"/>
                <a:cs typeface="JetBrains Mono" pitchFamily="49" charset="-120"/>
              </a:rPr>
              <a:t>Capturas propias, 27 oct 2026 · en Windows: python -m shodan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8432E"/>
                </a:solidFill>
                <a:latin typeface="JetBrains Mono" pitchFamily="49" charset="0"/>
                <a:ea typeface="JetBrains Mono" pitchFamily="49" charset="-122"/>
                <a:cs typeface="JetBrains Mono" pitchFamily="49" charset="-120"/>
              </a:rPr>
              <a:t>PRÁCTICA 3 · INTERFAZ WEB Y FILTROS</a:t>
            </a:r>
            <a:endParaRPr lang="en-US" sz="1200" dirty="0"/>
          </a:p>
        </p:txBody>
      </p:sp>
      <p:sp>
        <p:nvSpPr>
          <p:cNvPr id="3" name="Text 1"/>
          <p:cNvSpPr>
            <a:spLocks noGrp="1"/>
          </p:cNvSpPr>
          <p:nvPr>
            <p:ph type="title"/>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F"/>
                </a:solidFill>
                <a:latin typeface="IBM Plex Sans" pitchFamily="34" charset="0"/>
                <a:ea typeface="IBM Plex Sans" pitchFamily="34" charset="-122"/>
                <a:cs typeface="IBM Plex Sans" pitchFamily="34" charset="-120"/>
              </a:rPr>
              <a:t>Combinar filtros convierte una duda en un conteo</a:t>
            </a:r>
            <a:endParaRPr lang="en-US" sz="3200" dirty="0"/>
          </a:p>
        </p:txBody>
      </p:sp>
      <p:sp>
        <p:nvSpPr>
          <p:cNvPr id="4" name="Shape 2"/>
          <p:cNvSpPr/>
          <p:nvPr/>
        </p:nvSpPr>
        <p:spPr>
          <a:xfrm>
            <a:off x="812800" y="1930350"/>
            <a:ext cx="5181600" cy="2457450"/>
          </a:xfrm>
          <a:prstGeom prst="roundRect">
            <a:avLst>
              <a:gd name="adj" fmla="val 2067"/>
            </a:avLst>
          </a:prstGeom>
          <a:solidFill>
            <a:srgbClr val="FFFFFF"/>
          </a:solidFill>
          <a:ln/>
        </p:spPr>
        <p:txBody>
          <a:bodyPr/>
          <a:lstStyle/>
          <a:p>
            <a:endParaRPr lang="es-ES_tradnl"/>
          </a:p>
        </p:txBody>
      </p:sp>
      <p:pic>
        <p:nvPicPr>
          <p:cNvPr id="5" name="Image 0" descr="Búsqueda country:CR en la interfaz web de Shodan, con datos de terceros difuminados"/>
          <p:cNvPicPr>
            <a:picLocks noChangeAspect="1"/>
          </p:cNvPicPr>
          <p:nvPr/>
        </p:nvPicPr>
        <p:blipFill>
          <a:blip r:embed="rId3"/>
          <a:srcRect l="-75" r="-75"/>
          <a:stretch/>
        </p:blipFill>
        <p:spPr>
          <a:xfrm>
            <a:off x="819150" y="1936700"/>
            <a:ext cx="5168900" cy="2444750"/>
          </a:xfrm>
          <a:prstGeom prst="roundRect">
            <a:avLst>
              <a:gd name="adj" fmla="val 1818"/>
            </a:avLst>
          </a:prstGeom>
        </p:spPr>
      </p:pic>
      <p:sp>
        <p:nvSpPr>
          <p:cNvPr id="6" name="Shape 3"/>
          <p:cNvSpPr/>
          <p:nvPr/>
        </p:nvSpPr>
        <p:spPr>
          <a:xfrm>
            <a:off x="815975" y="1933525"/>
            <a:ext cx="5175250" cy="2451100"/>
          </a:xfrm>
          <a:prstGeom prst="roundRect">
            <a:avLst>
              <a:gd name="adj" fmla="val 1943"/>
            </a:avLst>
          </a:prstGeom>
          <a:noFill/>
          <a:ln w="6350">
            <a:solidFill>
              <a:srgbClr val="DDD8CC"/>
            </a:solidFill>
            <a:prstDash val="solid"/>
          </a:ln>
        </p:spPr>
        <p:txBody>
          <a:bodyPr/>
          <a:lstStyle/>
          <a:p>
            <a:endParaRPr lang="es-ES_tradnl"/>
          </a:p>
        </p:txBody>
      </p:sp>
      <p:sp>
        <p:nvSpPr>
          <p:cNvPr id="7" name="Text 4"/>
          <p:cNvSpPr/>
          <p:nvPr/>
        </p:nvSpPr>
        <p:spPr>
          <a:xfrm>
            <a:off x="812800" y="4489400"/>
            <a:ext cx="533704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02F"/>
                </a:solidFill>
                <a:latin typeface="JetBrains Mono" pitchFamily="49" charset="0"/>
                <a:ea typeface="JetBrains Mono" pitchFamily="49" charset="-122"/>
                <a:cs typeface="JetBrains Mono" pitchFamily="49" charset="-120"/>
              </a:rPr>
              <a:t>country:CR</a:t>
            </a:r>
            <a:endParaRPr lang="en-US" sz="1400" dirty="0"/>
          </a:p>
        </p:txBody>
      </p:sp>
      <p:sp>
        <p:nvSpPr>
          <p:cNvPr id="8" name="Text 5"/>
          <p:cNvSpPr/>
          <p:nvPr/>
        </p:nvSpPr>
        <p:spPr>
          <a:xfrm>
            <a:off x="812800" y="4839891"/>
            <a:ext cx="5337048"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02F"/>
                </a:solidFill>
                <a:latin typeface="IBM Plex Sans" pitchFamily="34" charset="0"/>
                <a:ea typeface="IBM Plex Sans" pitchFamily="34" charset="-122"/>
                <a:cs typeface="IBM Plex Sans" pitchFamily="34" charset="-120"/>
              </a:rPr>
              <a:t>293,085 resultados</a:t>
            </a:r>
            <a:endParaRPr lang="en-US" sz="1600" dirty="0"/>
          </a:p>
        </p:txBody>
      </p:sp>
      <p:sp>
        <p:nvSpPr>
          <p:cNvPr id="9" name="Shape 6"/>
          <p:cNvSpPr/>
          <p:nvPr/>
        </p:nvSpPr>
        <p:spPr>
          <a:xfrm>
            <a:off x="6197600" y="1930350"/>
            <a:ext cx="5181600" cy="2419350"/>
          </a:xfrm>
          <a:prstGeom prst="roundRect">
            <a:avLst>
              <a:gd name="adj" fmla="val 2100"/>
            </a:avLst>
          </a:prstGeom>
          <a:solidFill>
            <a:srgbClr val="FFFFFF"/>
          </a:solidFill>
          <a:ln/>
        </p:spPr>
        <p:txBody>
          <a:bodyPr/>
          <a:lstStyle/>
          <a:p>
            <a:endParaRPr lang="es-ES_tradnl"/>
          </a:p>
        </p:txBody>
      </p:sp>
      <p:pic>
        <p:nvPicPr>
          <p:cNvPr id="10" name="Image 1" descr="Búsqueda de certificados vencidos en Costa Rica, con datos de terceros difuminados"/>
          <p:cNvPicPr>
            <a:picLocks noChangeAspect="1"/>
          </p:cNvPicPr>
          <p:nvPr/>
        </p:nvPicPr>
        <p:blipFill>
          <a:blip r:embed="rId4"/>
          <a:srcRect l="-175" r="-175"/>
          <a:stretch/>
        </p:blipFill>
        <p:spPr>
          <a:xfrm>
            <a:off x="6203950" y="1936700"/>
            <a:ext cx="5168900" cy="2406650"/>
          </a:xfrm>
          <a:prstGeom prst="roundRect">
            <a:avLst>
              <a:gd name="adj" fmla="val 1847"/>
            </a:avLst>
          </a:prstGeom>
        </p:spPr>
      </p:pic>
      <p:sp>
        <p:nvSpPr>
          <p:cNvPr id="11" name="Shape 7"/>
          <p:cNvSpPr/>
          <p:nvPr/>
        </p:nvSpPr>
        <p:spPr>
          <a:xfrm>
            <a:off x="6200775" y="1933525"/>
            <a:ext cx="5175250" cy="2413000"/>
          </a:xfrm>
          <a:prstGeom prst="roundRect">
            <a:avLst>
              <a:gd name="adj" fmla="val 1974"/>
            </a:avLst>
          </a:prstGeom>
          <a:noFill/>
          <a:ln w="6350">
            <a:solidFill>
              <a:srgbClr val="DDD8CC"/>
            </a:solidFill>
            <a:prstDash val="solid"/>
          </a:ln>
        </p:spPr>
        <p:txBody>
          <a:bodyPr/>
          <a:lstStyle/>
          <a:p>
            <a:endParaRPr lang="es-ES_tradnl"/>
          </a:p>
        </p:txBody>
      </p:sp>
      <p:sp>
        <p:nvSpPr>
          <p:cNvPr id="12" name="Text 8"/>
          <p:cNvSpPr/>
          <p:nvPr/>
        </p:nvSpPr>
        <p:spPr>
          <a:xfrm>
            <a:off x="6197600" y="4451300"/>
            <a:ext cx="533704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02F"/>
                </a:solidFill>
                <a:latin typeface="JetBrains Mono" pitchFamily="49" charset="0"/>
                <a:ea typeface="JetBrains Mono" pitchFamily="49" charset="-122"/>
                <a:cs typeface="JetBrains Mono" pitchFamily="49" charset="-120"/>
              </a:rPr>
              <a:t>country:CR ssl.cert.expired:true</a:t>
            </a:r>
            <a:endParaRPr lang="en-US" sz="1400" dirty="0"/>
          </a:p>
        </p:txBody>
      </p:sp>
      <p:sp>
        <p:nvSpPr>
          <p:cNvPr id="13" name="Text 9"/>
          <p:cNvSpPr/>
          <p:nvPr/>
        </p:nvSpPr>
        <p:spPr>
          <a:xfrm>
            <a:off x="6197600" y="4801791"/>
            <a:ext cx="5337048"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02F"/>
                </a:solidFill>
                <a:latin typeface="IBM Plex Sans" pitchFamily="34" charset="0"/>
                <a:ea typeface="IBM Plex Sans" pitchFamily="34" charset="-122"/>
                <a:cs typeface="IBM Plex Sans" pitchFamily="34" charset="-120"/>
              </a:rPr>
              <a:t>2,399 servicios con certificado vencido</a:t>
            </a:r>
            <a:endParaRPr lang="en-US" sz="1600" dirty="0"/>
          </a:p>
        </p:txBody>
      </p:sp>
      <p:sp>
        <p:nvSpPr>
          <p:cNvPr id="14" name="Text 10"/>
          <p:cNvSpPr/>
          <p:nvPr/>
        </p:nvSpPr>
        <p:spPr>
          <a:xfrm>
            <a:off x="812800" y="6238280"/>
            <a:ext cx="76809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JetBrains Mono" pitchFamily="49" charset="0"/>
                <a:ea typeface="JetBrains Mono" pitchFamily="49" charset="-122"/>
                <a:cs typeface="JetBrains Mono" pitchFamily="49" charset="-120"/>
              </a:rPr>
              <a:t>Capturas propias, 27 oct 2026 · IPs y dominios de terceros difuminados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21059"/>
          </a:xfrm>
          <a:prstGeom prst="rect">
            <a:avLst/>
          </a:prstGeom>
          <a:noFill/>
          <a:ln/>
        </p:spPr>
        <p:txBody>
          <a:bodyPr wrap="square" lIns="0" tIns="0" rIns="0" bIns="0" rtlCol="0" anchor="t">
            <a:normAutofit/>
          </a:bodyPr>
          <a:lstStyle/>
          <a:p>
            <a:pPr marL="0" indent="0" algn="l">
              <a:lnSpc>
                <a:spcPts val="1570"/>
              </a:lnSpc>
              <a:buNone/>
            </a:pPr>
            <a:r>
              <a:rPr lang="en-US" sz="1121" dirty="0">
                <a:solidFill>
                  <a:srgbClr val="F0654D"/>
                </a:solidFill>
                <a:latin typeface="JetBrains Mono" pitchFamily="49" charset="0"/>
                <a:ea typeface="JetBrains Mono" pitchFamily="49" charset="-122"/>
                <a:cs typeface="JetBrains Mono" pitchFamily="49" charset="-120"/>
              </a:rPr>
              <a:t>PRÁCTICA 4 · SCRIPT EN PYTHON CON LA API</a:t>
            </a:r>
            <a:endParaRPr lang="en-US" sz="1121" dirty="0"/>
          </a:p>
        </p:txBody>
      </p:sp>
      <p:sp>
        <p:nvSpPr>
          <p:cNvPr id="3" name="Text 1"/>
          <p:cNvSpPr>
            <a:spLocks noGrp="1"/>
          </p:cNvSpPr>
          <p:nvPr>
            <p:ph type="title"/>
          </p:nvPr>
        </p:nvSpPr>
        <p:spPr>
          <a:xfrm>
            <a:off x="812800" y="1237059"/>
            <a:ext cx="10883392" cy="435372"/>
          </a:xfrm>
          <a:prstGeom prst="rect">
            <a:avLst/>
          </a:prstGeom>
          <a:noFill/>
          <a:ln/>
        </p:spPr>
        <p:txBody>
          <a:bodyPr wrap="square" lIns="0" tIns="0" rIns="0" bIns="0" rtlCol="0" anchor="t">
            <a:normAutofit/>
          </a:bodyPr>
          <a:lstStyle/>
          <a:p>
            <a:pPr marL="0" indent="0" algn="l">
              <a:lnSpc>
                <a:spcPts val="3267"/>
              </a:lnSpc>
              <a:buNone/>
            </a:pPr>
            <a:r>
              <a:rPr lang="en-US" sz="2970" b="1" i="0" dirty="0">
                <a:solidFill>
                  <a:srgbClr val="E8EDF4"/>
                </a:solidFill>
                <a:latin typeface="IBM Plex Sans" pitchFamily="34" charset="0"/>
                <a:ea typeface="IBM Plex Sans" pitchFamily="34" charset="-122"/>
                <a:cs typeface="IBM Plex Sans" pitchFamily="34" charset="-120"/>
              </a:rPr>
              <a:t>Panorama de Costa Rica sin gastar un crédito</a:t>
            </a:r>
            <a:endParaRPr lang="en-US" sz="2970" dirty="0"/>
          </a:p>
        </p:txBody>
      </p:sp>
      <p:sp>
        <p:nvSpPr>
          <p:cNvPr id="4" name="Shape 2"/>
          <p:cNvSpPr/>
          <p:nvPr/>
        </p:nvSpPr>
        <p:spPr>
          <a:xfrm>
            <a:off x="815975" y="1878806"/>
            <a:ext cx="3549650" cy="808930"/>
          </a:xfrm>
          <a:prstGeom prst="roundRect">
            <a:avLst>
              <a:gd name="adj" fmla="val 9027"/>
            </a:avLst>
          </a:prstGeom>
          <a:solidFill>
            <a:srgbClr val="16233A"/>
          </a:solidFill>
          <a:ln w="6350">
            <a:solidFill>
              <a:srgbClr val="26385A"/>
            </a:solidFill>
            <a:prstDash val="solid"/>
          </a:ln>
        </p:spPr>
        <p:txBody>
          <a:bodyPr/>
          <a:lstStyle/>
          <a:p>
            <a:endParaRPr lang="es-ES_tradnl"/>
          </a:p>
        </p:txBody>
      </p:sp>
      <p:sp>
        <p:nvSpPr>
          <p:cNvPr id="5" name="Text 3"/>
          <p:cNvSpPr/>
          <p:nvPr/>
        </p:nvSpPr>
        <p:spPr>
          <a:xfrm>
            <a:off x="996950" y="2034381"/>
            <a:ext cx="3283331"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EDF4"/>
                </a:solidFill>
                <a:latin typeface="IBM Plex Sans" pitchFamily="34" charset="0"/>
                <a:ea typeface="IBM Plex Sans" pitchFamily="34" charset="-122"/>
                <a:cs typeface="IBM Plex Sans" pitchFamily="34" charset="-120"/>
              </a:rPr>
              <a:t>Solo api.count()</a:t>
            </a:r>
            <a:endParaRPr lang="en-US" sz="1600" dirty="0"/>
          </a:p>
        </p:txBody>
      </p:sp>
      <p:sp>
        <p:nvSpPr>
          <p:cNvPr id="6" name="Text 4"/>
          <p:cNvSpPr/>
          <p:nvPr/>
        </p:nvSpPr>
        <p:spPr>
          <a:xfrm>
            <a:off x="996950" y="2318841"/>
            <a:ext cx="32833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IBM Plex Sans" pitchFamily="34" charset="0"/>
                <a:ea typeface="IBM Plex Sans" pitchFamily="34" charset="-122"/>
                <a:cs typeface="IBM Plex Sans" pitchFamily="34" charset="-120"/>
              </a:rPr>
              <a:t>Totales y facets, nunca IPs ni banners</a:t>
            </a:r>
            <a:endParaRPr lang="en-US" sz="1200" dirty="0"/>
          </a:p>
        </p:txBody>
      </p:sp>
      <p:sp>
        <p:nvSpPr>
          <p:cNvPr id="7" name="Shape 5"/>
          <p:cNvSpPr/>
          <p:nvPr/>
        </p:nvSpPr>
        <p:spPr>
          <a:xfrm>
            <a:off x="815975" y="2821087"/>
            <a:ext cx="3549650" cy="808930"/>
          </a:xfrm>
          <a:prstGeom prst="roundRect">
            <a:avLst>
              <a:gd name="adj" fmla="val 9027"/>
            </a:avLst>
          </a:prstGeom>
          <a:solidFill>
            <a:srgbClr val="16233A"/>
          </a:solidFill>
          <a:ln w="6350">
            <a:solidFill>
              <a:srgbClr val="26385A"/>
            </a:solidFill>
            <a:prstDash val="solid"/>
          </a:ln>
        </p:spPr>
        <p:txBody>
          <a:bodyPr/>
          <a:lstStyle/>
          <a:p>
            <a:endParaRPr lang="es-ES_tradnl"/>
          </a:p>
        </p:txBody>
      </p:sp>
      <p:sp>
        <p:nvSpPr>
          <p:cNvPr id="8" name="Text 6"/>
          <p:cNvSpPr/>
          <p:nvPr/>
        </p:nvSpPr>
        <p:spPr>
          <a:xfrm>
            <a:off x="996950" y="2976662"/>
            <a:ext cx="33655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EDF4"/>
                </a:solidFill>
                <a:latin typeface="IBM Plex Sans" pitchFamily="34" charset="0"/>
                <a:ea typeface="IBM Plex Sans" pitchFamily="34" charset="-122"/>
                <a:cs typeface="IBM Plex Sans" pitchFamily="34" charset="-120"/>
              </a:rPr>
              <a:t>Créditos: 100 antes, 100 después</a:t>
            </a:r>
            <a:endParaRPr lang="en-US" sz="1600" dirty="0"/>
          </a:p>
        </p:txBody>
      </p:sp>
      <p:sp>
        <p:nvSpPr>
          <p:cNvPr id="9" name="Text 7"/>
          <p:cNvSpPr/>
          <p:nvPr/>
        </p:nvSpPr>
        <p:spPr>
          <a:xfrm>
            <a:off x="996950" y="3261122"/>
            <a:ext cx="328333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IBM Plex Sans" pitchFamily="34" charset="0"/>
                <a:ea typeface="IBM Plex Sans" pitchFamily="34" charset="-122"/>
                <a:cs typeface="IBM Plex Sans" pitchFamily="34" charset="-120"/>
              </a:rPr>
              <a:t>Verificado en la ejecución</a:t>
            </a:r>
            <a:endParaRPr lang="en-US" sz="1200" dirty="0"/>
          </a:p>
        </p:txBody>
      </p:sp>
      <p:sp>
        <p:nvSpPr>
          <p:cNvPr id="10" name="Shape 8"/>
          <p:cNvSpPr/>
          <p:nvPr/>
        </p:nvSpPr>
        <p:spPr>
          <a:xfrm>
            <a:off x="819150" y="3766542"/>
            <a:ext cx="3543300" cy="1028601"/>
          </a:xfrm>
          <a:prstGeom prst="roundRect">
            <a:avLst>
              <a:gd name="adj" fmla="val 6791"/>
            </a:avLst>
          </a:prstGeom>
          <a:solidFill>
            <a:srgbClr val="16233A"/>
          </a:solidFill>
          <a:ln w="12700">
            <a:solidFill>
              <a:srgbClr val="4CC3B0"/>
            </a:solidFill>
            <a:prstDash val="solid"/>
          </a:ln>
        </p:spPr>
        <p:txBody>
          <a:bodyPr/>
          <a:lstStyle/>
          <a:p>
            <a:endParaRPr lang="es-ES_tradnl"/>
          </a:p>
        </p:txBody>
      </p:sp>
      <p:sp>
        <p:nvSpPr>
          <p:cNvPr id="11" name="Text 9"/>
          <p:cNvSpPr/>
          <p:nvPr/>
        </p:nvSpPr>
        <p:spPr>
          <a:xfrm>
            <a:off x="1003300" y="3925292"/>
            <a:ext cx="327025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4CC3B0"/>
                </a:solidFill>
                <a:latin typeface="IBM Plex Sans" pitchFamily="34" charset="0"/>
                <a:ea typeface="IBM Plex Sans" pitchFamily="34" charset="-122"/>
                <a:cs typeface="IBM Plex Sans" pitchFamily="34" charset="-120"/>
              </a:rPr>
              <a:t>Opción --offline</a:t>
            </a:r>
            <a:endParaRPr lang="en-US" sz="1600" dirty="0"/>
          </a:p>
        </p:txBody>
      </p:sp>
      <p:sp>
        <p:nvSpPr>
          <p:cNvPr id="12" name="Text 10"/>
          <p:cNvSpPr/>
          <p:nvPr/>
        </p:nvSpPr>
        <p:spPr>
          <a:xfrm>
            <a:off x="1003300" y="4209752"/>
            <a:ext cx="327025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IBM Plex Sans" pitchFamily="34" charset="0"/>
                <a:ea typeface="IBM Plex Sans" pitchFamily="34" charset="-122"/>
                <a:cs typeface="IBM Plex Sans" pitchFamily="34" charset="-120"/>
              </a:rPr>
              <a:t>Regenera los gráficos sin red: nuestro respaldo</a:t>
            </a:r>
            <a:endParaRPr lang="en-US" sz="1200" dirty="0"/>
          </a:p>
        </p:txBody>
      </p:sp>
      <p:sp>
        <p:nvSpPr>
          <p:cNvPr id="13" name="Text 11"/>
          <p:cNvSpPr/>
          <p:nvPr/>
        </p:nvSpPr>
        <p:spPr>
          <a:xfrm>
            <a:off x="812800" y="4928493"/>
            <a:ext cx="36626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8EDF4"/>
                </a:solidFill>
                <a:latin typeface="JetBrains Mono" pitchFamily="49" charset="0"/>
                <a:ea typeface="JetBrains Mono" pitchFamily="49" charset="-122"/>
                <a:cs typeface="JetBrains Mono" pitchFamily="49" charset="-120"/>
              </a:rPr>
              <a:t>python shodan_cr.py</a:t>
            </a:r>
            <a:endParaRPr lang="en-US" sz="1200" dirty="0"/>
          </a:p>
          <a:p>
            <a:pPr marL="0" indent="0" algn="l">
              <a:lnSpc>
                <a:spcPts val="1680"/>
              </a:lnSpc>
              <a:buNone/>
            </a:pPr>
            <a:r>
              <a:rPr lang="en-US" sz="1200" dirty="0">
                <a:solidFill>
                  <a:srgbClr val="E8EDF4"/>
                </a:solidFill>
                <a:latin typeface="JetBrains Mono" pitchFamily="49" charset="0"/>
                <a:ea typeface="JetBrains Mono" pitchFamily="49" charset="-122"/>
                <a:cs typeface="JetBrains Mono" pitchFamily="49" charset="-120"/>
              </a:rPr>
              <a:t>python shodan_cr.py --offline</a:t>
            </a:r>
            <a:endParaRPr lang="en-US" sz="1200" dirty="0"/>
          </a:p>
        </p:txBody>
      </p:sp>
      <p:sp>
        <p:nvSpPr>
          <p:cNvPr id="14" name="Shape 12"/>
          <p:cNvSpPr/>
          <p:nvPr/>
        </p:nvSpPr>
        <p:spPr>
          <a:xfrm>
            <a:off x="4622800" y="1875631"/>
            <a:ext cx="6731000" cy="4324350"/>
          </a:xfrm>
          <a:prstGeom prst="roundRect">
            <a:avLst>
              <a:gd name="adj" fmla="val 1175"/>
            </a:avLst>
          </a:prstGeom>
          <a:solidFill>
            <a:srgbClr val="FFFFFF"/>
          </a:solidFill>
          <a:ln/>
        </p:spPr>
        <p:txBody>
          <a:bodyPr/>
          <a:lstStyle/>
          <a:p>
            <a:endParaRPr lang="es-ES_tradnl"/>
          </a:p>
        </p:txBody>
      </p:sp>
      <p:pic>
        <p:nvPicPr>
          <p:cNvPr id="15" name="Image 0" descr="Dashboard con puertos, productos, campo org y servicios comunes de Costa Rica"/>
          <p:cNvPicPr>
            <a:picLocks noChangeAspect="1"/>
          </p:cNvPicPr>
          <p:nvPr/>
        </p:nvPicPr>
        <p:blipFill>
          <a:blip r:embed="rId3"/>
          <a:srcRect l="-84" r="-84"/>
          <a:stretch/>
        </p:blipFill>
        <p:spPr>
          <a:xfrm>
            <a:off x="4629150" y="1881981"/>
            <a:ext cx="6718300" cy="4311650"/>
          </a:xfrm>
          <a:prstGeom prst="roundRect">
            <a:avLst>
              <a:gd name="adj" fmla="val 1031"/>
            </a:avLst>
          </a:prstGeom>
        </p:spPr>
      </p:pic>
      <p:sp>
        <p:nvSpPr>
          <p:cNvPr id="16" name="Shape 13"/>
          <p:cNvSpPr/>
          <p:nvPr/>
        </p:nvSpPr>
        <p:spPr>
          <a:xfrm>
            <a:off x="4625975" y="1878806"/>
            <a:ext cx="6724650" cy="4318000"/>
          </a:xfrm>
          <a:prstGeom prst="roundRect">
            <a:avLst>
              <a:gd name="adj" fmla="val 1103"/>
            </a:avLst>
          </a:prstGeom>
          <a:noFill/>
          <a:ln w="6350">
            <a:solidFill>
              <a:srgbClr val="26385A"/>
            </a:solidFill>
            <a:prstDash val="solid"/>
          </a:ln>
        </p:spPr>
        <p:txBody>
          <a:bodyPr/>
          <a:lstStyle/>
          <a:p>
            <a:endParaRPr lang="es-ES_tradnl"/>
          </a:p>
        </p:txBody>
      </p:sp>
      <p:sp>
        <p:nvSpPr>
          <p:cNvPr id="17" name="Text 14"/>
          <p:cNvSpPr/>
          <p:nvPr/>
        </p:nvSpPr>
        <p:spPr>
          <a:xfrm>
            <a:off x="812800" y="6238280"/>
            <a:ext cx="570577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JetBrains Mono" pitchFamily="49" charset="0"/>
                <a:ea typeface="JetBrains Mono" pitchFamily="49" charset="-122"/>
                <a:cs typeface="JetBrains Mono" pitchFamily="49" charset="-120"/>
              </a:rPr>
              <a:t>Fuente: Shodan API, 27 oct 2026 · elaboración propia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8432E"/>
                </a:solidFill>
                <a:latin typeface="JetBrains Mono" pitchFamily="49" charset="0"/>
                <a:ea typeface="JetBrains Mono" pitchFamily="49" charset="-122"/>
                <a:cs typeface="JetBrains Mono" pitchFamily="49" charset="-120"/>
              </a:rPr>
              <a:t>HALLAZGOS · COSTA RICA, country:CR</a:t>
            </a:r>
            <a:endParaRPr lang="en-US" sz="1200" dirty="0"/>
          </a:p>
        </p:txBody>
      </p:sp>
      <p:sp>
        <p:nvSpPr>
          <p:cNvPr id="3" name="Text 1"/>
          <p:cNvSpPr>
            <a:spLocks noGrp="1"/>
          </p:cNvSpPr>
          <p:nvPr>
            <p:ph type="title"/>
          </p:nvPr>
        </p:nvSpPr>
        <p:spPr>
          <a:xfrm>
            <a:off x="812800" y="13309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F"/>
                </a:solidFill>
                <a:latin typeface="IBM Plex Sans" pitchFamily="34" charset="0"/>
                <a:ea typeface="IBM Plex Sans" pitchFamily="34" charset="-122"/>
                <a:cs typeface="IBM Plex Sans" pitchFamily="34" charset="-120"/>
              </a:rPr>
              <a:t>La exposición está muy concentrada</a:t>
            </a:r>
            <a:endParaRPr lang="en-US" sz="3200" dirty="0"/>
          </a:p>
        </p:txBody>
      </p:sp>
      <p:sp>
        <p:nvSpPr>
          <p:cNvPr id="4" name="Shape 2"/>
          <p:cNvSpPr/>
          <p:nvPr/>
        </p:nvSpPr>
        <p:spPr>
          <a:xfrm>
            <a:off x="815975" y="2085925"/>
            <a:ext cx="2520950" cy="1560810"/>
          </a:xfrm>
          <a:prstGeom prst="roundRect">
            <a:avLst>
              <a:gd name="adj" fmla="val 6306"/>
            </a:avLst>
          </a:prstGeom>
          <a:solidFill>
            <a:srgbClr val="FFFFFF"/>
          </a:solidFill>
          <a:ln w="6350">
            <a:solidFill>
              <a:srgbClr val="DDD8CC"/>
            </a:solidFill>
            <a:prstDash val="solid"/>
          </a:ln>
        </p:spPr>
        <p:txBody>
          <a:bodyPr/>
          <a:lstStyle/>
          <a:p>
            <a:endParaRPr lang="es-ES_tradnl"/>
          </a:p>
        </p:txBody>
      </p:sp>
      <p:sp>
        <p:nvSpPr>
          <p:cNvPr id="5" name="Text 3"/>
          <p:cNvSpPr/>
          <p:nvPr/>
        </p:nvSpPr>
        <p:spPr>
          <a:xfrm>
            <a:off x="1022350" y="2292300"/>
            <a:ext cx="217144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8432E"/>
                </a:solidFill>
                <a:latin typeface="IBM Plex Sans" pitchFamily="34" charset="0"/>
                <a:ea typeface="IBM Plex Sans" pitchFamily="34" charset="-122"/>
                <a:cs typeface="IBM Plex Sans" pitchFamily="34" charset="-120"/>
              </a:rPr>
              <a:t>23.6%</a:t>
            </a:r>
            <a:endParaRPr lang="en-US" sz="4800" dirty="0"/>
          </a:p>
        </p:txBody>
      </p:sp>
      <p:sp>
        <p:nvSpPr>
          <p:cNvPr id="6" name="Text 4"/>
          <p:cNvSpPr/>
          <p:nvPr/>
        </p:nvSpPr>
        <p:spPr>
          <a:xfrm>
            <a:off x="1022350" y="2978100"/>
            <a:ext cx="2171446"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02F"/>
                </a:solidFill>
                <a:latin typeface="IBM Plex Sans" pitchFamily="34" charset="0"/>
                <a:ea typeface="IBM Plex Sans" pitchFamily="34" charset="-122"/>
                <a:cs typeface="IBM Plex Sans" pitchFamily="34" charset="-120"/>
              </a:rPr>
              <a:t>de los servicios están en el puerto 7547</a:t>
            </a:r>
            <a:endParaRPr lang="en-US" sz="1400" dirty="0"/>
          </a:p>
        </p:txBody>
      </p:sp>
      <p:sp>
        <p:nvSpPr>
          <p:cNvPr id="7" name="Shape 5"/>
          <p:cNvSpPr/>
          <p:nvPr/>
        </p:nvSpPr>
        <p:spPr>
          <a:xfrm>
            <a:off x="3495675" y="2085925"/>
            <a:ext cx="2520950" cy="1560810"/>
          </a:xfrm>
          <a:prstGeom prst="roundRect">
            <a:avLst>
              <a:gd name="adj" fmla="val 6306"/>
            </a:avLst>
          </a:prstGeom>
          <a:solidFill>
            <a:srgbClr val="FFFFFF"/>
          </a:solidFill>
          <a:ln w="6350">
            <a:solidFill>
              <a:srgbClr val="DDD8CC"/>
            </a:solidFill>
            <a:prstDash val="solid"/>
          </a:ln>
        </p:spPr>
        <p:txBody>
          <a:bodyPr/>
          <a:lstStyle/>
          <a:p>
            <a:endParaRPr lang="es-ES_tradnl"/>
          </a:p>
        </p:txBody>
      </p:sp>
      <p:sp>
        <p:nvSpPr>
          <p:cNvPr id="8" name="Text 6"/>
          <p:cNvSpPr/>
          <p:nvPr/>
        </p:nvSpPr>
        <p:spPr>
          <a:xfrm>
            <a:off x="3702050" y="2292300"/>
            <a:ext cx="217144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8432E"/>
                </a:solidFill>
                <a:latin typeface="IBM Plex Sans" pitchFamily="34" charset="0"/>
                <a:ea typeface="IBM Plex Sans" pitchFamily="34" charset="-122"/>
                <a:cs typeface="IBM Plex Sans" pitchFamily="34" charset="-120"/>
              </a:rPr>
              <a:t>61.9%</a:t>
            </a:r>
            <a:endParaRPr lang="en-US" sz="4800" dirty="0"/>
          </a:p>
        </p:txBody>
      </p:sp>
      <p:sp>
        <p:nvSpPr>
          <p:cNvPr id="9" name="Text 7"/>
          <p:cNvSpPr/>
          <p:nvPr/>
        </p:nvSpPr>
        <p:spPr>
          <a:xfrm>
            <a:off x="3702050" y="2978100"/>
            <a:ext cx="2171446"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02F"/>
                </a:solidFill>
                <a:latin typeface="IBM Plex Sans" pitchFamily="34" charset="0"/>
                <a:ea typeface="IBM Plex Sans" pitchFamily="34" charset="-122"/>
                <a:cs typeface="IBM Plex Sans" pitchFamily="34" charset="-120"/>
              </a:rPr>
              <a:t>se ubica en San José (estimado por IP)</a:t>
            </a:r>
            <a:endParaRPr lang="en-US" sz="1400" dirty="0"/>
          </a:p>
        </p:txBody>
      </p:sp>
      <p:sp>
        <p:nvSpPr>
          <p:cNvPr id="10" name="Shape 8"/>
          <p:cNvSpPr/>
          <p:nvPr/>
        </p:nvSpPr>
        <p:spPr>
          <a:xfrm>
            <a:off x="6175375" y="2085925"/>
            <a:ext cx="2520950" cy="1560810"/>
          </a:xfrm>
          <a:prstGeom prst="roundRect">
            <a:avLst>
              <a:gd name="adj" fmla="val 6306"/>
            </a:avLst>
          </a:prstGeom>
          <a:solidFill>
            <a:srgbClr val="FFFFFF"/>
          </a:solidFill>
          <a:ln w="6350">
            <a:solidFill>
              <a:srgbClr val="DDD8CC"/>
            </a:solidFill>
            <a:prstDash val="solid"/>
          </a:ln>
        </p:spPr>
        <p:txBody>
          <a:bodyPr/>
          <a:lstStyle/>
          <a:p>
            <a:endParaRPr lang="es-ES_tradnl"/>
          </a:p>
        </p:txBody>
      </p:sp>
      <p:sp>
        <p:nvSpPr>
          <p:cNvPr id="11" name="Text 9"/>
          <p:cNvSpPr/>
          <p:nvPr/>
        </p:nvSpPr>
        <p:spPr>
          <a:xfrm>
            <a:off x="6381750" y="2292300"/>
            <a:ext cx="217144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8432E"/>
                </a:solidFill>
                <a:latin typeface="IBM Plex Sans" pitchFamily="34" charset="0"/>
                <a:ea typeface="IBM Plex Sans" pitchFamily="34" charset="-122"/>
                <a:cs typeface="IBM Plex Sans" pitchFamily="34" charset="-120"/>
              </a:rPr>
              <a:t>12.2%</a:t>
            </a:r>
            <a:endParaRPr lang="en-US" sz="4800" dirty="0"/>
          </a:p>
        </p:txBody>
      </p:sp>
      <p:sp>
        <p:nvSpPr>
          <p:cNvPr id="12" name="Text 10"/>
          <p:cNvSpPr/>
          <p:nvPr/>
        </p:nvSpPr>
        <p:spPr>
          <a:xfrm>
            <a:off x="6381750" y="2978100"/>
            <a:ext cx="2171446"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02F"/>
                </a:solidFill>
                <a:latin typeface="IBM Plex Sans" pitchFamily="34" charset="0"/>
                <a:ea typeface="IBM Plex Sans" pitchFamily="34" charset="-122"/>
                <a:cs typeface="IBM Plex Sans" pitchFamily="34" charset="-120"/>
              </a:rPr>
              <a:t>lleva un solo valor del campo org</a:t>
            </a:r>
            <a:endParaRPr lang="en-US" sz="1400" dirty="0"/>
          </a:p>
        </p:txBody>
      </p:sp>
      <p:sp>
        <p:nvSpPr>
          <p:cNvPr id="13" name="Shape 11"/>
          <p:cNvSpPr/>
          <p:nvPr/>
        </p:nvSpPr>
        <p:spPr>
          <a:xfrm>
            <a:off x="8855075" y="2085925"/>
            <a:ext cx="2520950" cy="1560810"/>
          </a:xfrm>
          <a:prstGeom prst="roundRect">
            <a:avLst>
              <a:gd name="adj" fmla="val 6306"/>
            </a:avLst>
          </a:prstGeom>
          <a:solidFill>
            <a:srgbClr val="FFFFFF"/>
          </a:solidFill>
          <a:ln w="6350">
            <a:solidFill>
              <a:srgbClr val="DDD8CC"/>
            </a:solidFill>
            <a:prstDash val="solid"/>
          </a:ln>
        </p:spPr>
        <p:txBody>
          <a:bodyPr/>
          <a:lstStyle/>
          <a:p>
            <a:endParaRPr lang="es-ES_tradnl"/>
          </a:p>
        </p:txBody>
      </p:sp>
      <p:sp>
        <p:nvSpPr>
          <p:cNvPr id="14" name="Text 12"/>
          <p:cNvSpPr/>
          <p:nvPr/>
        </p:nvSpPr>
        <p:spPr>
          <a:xfrm>
            <a:off x="9061450" y="2292300"/>
            <a:ext cx="217144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8432E"/>
                </a:solidFill>
                <a:latin typeface="IBM Plex Sans" pitchFamily="34" charset="0"/>
                <a:ea typeface="IBM Plex Sans" pitchFamily="34" charset="-122"/>
                <a:cs typeface="IBM Plex Sans" pitchFamily="34" charset="-120"/>
              </a:rPr>
              <a:t>3.8x</a:t>
            </a:r>
            <a:endParaRPr lang="en-US" sz="4800" dirty="0"/>
          </a:p>
        </p:txBody>
      </p:sp>
      <p:sp>
        <p:nvSpPr>
          <p:cNvPr id="15" name="Text 13"/>
          <p:cNvSpPr/>
          <p:nvPr/>
        </p:nvSpPr>
        <p:spPr>
          <a:xfrm>
            <a:off x="9061450" y="2978100"/>
            <a:ext cx="2171446"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16202F"/>
                </a:solidFill>
                <a:latin typeface="IBM Plex Sans" pitchFamily="34" charset="0"/>
                <a:ea typeface="IBM Plex Sans" pitchFamily="34" charset="-122"/>
                <a:cs typeface="IBM Plex Sans" pitchFamily="34" charset="-120"/>
              </a:rPr>
              <a:t>más servicios HTTP que HTTPS indexados</a:t>
            </a:r>
            <a:endParaRPr lang="en-US" sz="1400" dirty="0"/>
          </a:p>
        </p:txBody>
      </p:sp>
      <p:sp>
        <p:nvSpPr>
          <p:cNvPr id="16" name="Text 14"/>
          <p:cNvSpPr/>
          <p:nvPr/>
        </p:nvSpPr>
        <p:spPr>
          <a:xfrm>
            <a:off x="812800" y="3954711"/>
            <a:ext cx="536321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6202F"/>
                </a:solidFill>
                <a:latin typeface="IBM Plex Sans" pitchFamily="34" charset="0"/>
                <a:ea typeface="IBM Plex Sans" pitchFamily="34" charset="-122"/>
                <a:cs typeface="IBM Plex Sans" pitchFamily="34" charset="-120"/>
              </a:rPr>
              <a:t>SSH 3,605 · RDP 558 · Telnet 532 · SMB 365 · VNC 108</a:t>
            </a:r>
            <a:endParaRPr lang="en-US" sz="1400" dirty="0"/>
          </a:p>
        </p:txBody>
      </p:sp>
      <p:sp>
        <p:nvSpPr>
          <p:cNvPr id="17" name="Text 15"/>
          <p:cNvSpPr/>
          <p:nvPr/>
        </p:nvSpPr>
        <p:spPr>
          <a:xfrm>
            <a:off x="6172200" y="3954711"/>
            <a:ext cx="536321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566274"/>
                </a:solidFill>
                <a:latin typeface="IBM Plex Sans" pitchFamily="34" charset="0"/>
                <a:ea typeface="IBM Plex Sans" pitchFamily="34" charset="-122"/>
                <a:cs typeface="IBM Plex Sans" pitchFamily="34" charset="-120"/>
              </a:rPr>
              <a:t>Servicios indexados, no equipos únicos ni equipos vulnerables.</a:t>
            </a:r>
            <a:endParaRPr lang="en-US" sz="1400" dirty="0"/>
          </a:p>
        </p:txBody>
      </p:sp>
      <p:sp>
        <p:nvSpPr>
          <p:cNvPr id="18" name="Text 16"/>
          <p:cNvSpPr/>
          <p:nvPr/>
        </p:nvSpPr>
        <p:spPr>
          <a:xfrm>
            <a:off x="812800" y="6238280"/>
            <a:ext cx="757112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JetBrains Mono" pitchFamily="49" charset="0"/>
                <a:ea typeface="JetBrains Mono" pitchFamily="49" charset="-122"/>
                <a:cs typeface="JetBrains Mono" pitchFamily="49" charset="-120"/>
              </a:rPr>
              <a:t>Total: 292,152 servicios · Shodan API, 27 oct 2026 · cálculos propios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E172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0654D"/>
                </a:solidFill>
                <a:latin typeface="JetBrains Mono" pitchFamily="49" charset="0"/>
                <a:ea typeface="JetBrains Mono" pitchFamily="49" charset="-122"/>
                <a:cs typeface="JetBrains Mono" pitchFamily="49" charset="-120"/>
              </a:rPr>
              <a:t>06 · OTROS BUSCADORES ESPECIALIZADOS</a:t>
            </a:r>
            <a:endParaRPr lang="en-US" sz="1200" dirty="0"/>
          </a:p>
        </p:txBody>
      </p:sp>
      <p:sp>
        <p:nvSpPr>
          <p:cNvPr id="3" name="Text 1"/>
          <p:cNvSpPr>
            <a:spLocks noGrp="1"/>
          </p:cNvSpPr>
          <p:nvPr>
            <p:ph type="title"/>
          </p:nvPr>
        </p:nvSpPr>
        <p:spPr>
          <a:xfrm>
            <a:off x="812800" y="1254720"/>
            <a:ext cx="11379200"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E8EDF4"/>
                </a:solidFill>
                <a:latin typeface="IBM Plex Sans" pitchFamily="34" charset="0"/>
                <a:ea typeface="IBM Plex Sans" pitchFamily="34" charset="-122"/>
                <a:cs typeface="IBM Plex Sans" pitchFamily="34" charset="-120"/>
              </a:rPr>
              <a:t>Unos preguntan qué está expuesto, otro quién escanea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3050"/>
          <a:ext cx="6337300" cy="2721125"/>
        </p:xfrm>
        <a:graphic>
          <a:graphicData uri="http://schemas.openxmlformats.org/drawingml/2006/table">
            <a:tbl>
              <a:tblPr/>
              <a:tblGrid>
                <a:gridCol w="1394206">
                  <a:extLst>
                    <a:ext uri="{9D8B030D-6E8A-4147-A177-3AD203B41FA5}">
                      <a16:colId xmlns:a16="http://schemas.microsoft.com/office/drawing/2014/main" val="20000"/>
                    </a:ext>
                  </a:extLst>
                </a:gridCol>
                <a:gridCol w="3675634">
                  <a:extLst>
                    <a:ext uri="{9D8B030D-6E8A-4147-A177-3AD203B41FA5}">
                      <a16:colId xmlns:a16="http://schemas.microsoft.com/office/drawing/2014/main" val="20001"/>
                    </a:ext>
                  </a:extLst>
                </a:gridCol>
                <a:gridCol w="1267460">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E8EDF4"/>
                          </a:solidFill>
                          <a:latin typeface="IBM Plex Sans" pitchFamily="34" charset="0"/>
                          <a:ea typeface="IBM Plex Sans" pitchFamily="34" charset="-122"/>
                          <a:cs typeface="IBM Plex Sans" pitchFamily="34" charset="-120"/>
                        </a:rPr>
                        <a:t>Herramienta</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tc>
                  <a:txBody>
                    <a:bodyPr/>
                    <a:lstStyle/>
                    <a:p>
                      <a:pPr marL="0" indent="0">
                        <a:lnSpc>
                          <a:spcPts val="1820"/>
                        </a:lnSpc>
                        <a:buNone/>
                      </a:pPr>
                      <a:r>
                        <a:rPr lang="en-US" sz="1300" b="1" dirty="0">
                          <a:solidFill>
                            <a:srgbClr val="E8EDF4"/>
                          </a:solidFill>
                          <a:latin typeface="IBM Plex Sans" pitchFamily="34" charset="0"/>
                          <a:ea typeface="IBM Plex Sans" pitchFamily="34" charset="-122"/>
                          <a:cs typeface="IBM Plex Sans" pitchFamily="34" charset="-120"/>
                        </a:rPr>
                        <a:t>Qué hace</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263"/>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tc>
                  <a:txBody>
                    <a:bodyPr/>
                    <a:lstStyle/>
                    <a:p>
                      <a:pPr marL="0" indent="0">
                        <a:lnSpc>
                          <a:spcPts val="1820"/>
                        </a:lnSpc>
                        <a:buNone/>
                      </a:pPr>
                      <a:r>
                        <a:rPr lang="en-US" sz="1300" b="1" dirty="0">
                          <a:solidFill>
                            <a:srgbClr val="E8EDF4"/>
                          </a:solidFill>
                          <a:latin typeface="IBM Plex Sans" pitchFamily="34" charset="0"/>
                          <a:ea typeface="IBM Plex Sans" pitchFamily="34" charset="-122"/>
                          <a:cs typeface="IBM Plex Sans" pitchFamily="34" charset="-120"/>
                        </a:rPr>
                        <a:t>Probada</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263"/>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extLst>
                  <a:ext uri="{0D108BD9-81ED-4DB2-BD59-A6C34878D82A}">
                    <a16:rowId xmlns:a16="http://schemas.microsoft.com/office/drawing/2014/main" val="10000"/>
                  </a:ext>
                </a:extLst>
              </a:tr>
              <a:tr h="590451">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Censys</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85263"/>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Escaneo de Internet con ZMap y ZGrab; campos estructurados</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85263"/>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85263"/>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extLst>
                  <a:ext uri="{0D108BD9-81ED-4DB2-BD59-A6C34878D82A}">
                    <a16:rowId xmlns:a16="http://schemas.microsoft.com/office/drawing/2014/main" val="10001"/>
                  </a:ext>
                </a:extLst>
              </a:tr>
              <a:tr h="590451">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ZoomEye</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Buscador de dispositivos conectados a Internet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263"/>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263"/>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extLst>
                  <a:ext uri="{0D108BD9-81ED-4DB2-BD59-A6C34878D82A}">
                    <a16:rowId xmlns:a16="http://schemas.microsoft.com/office/drawing/2014/main" val="10002"/>
                  </a:ext>
                </a:extLst>
              </a:tr>
              <a:tr h="590451">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FOFA</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85263"/>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Buscador del ciberespacio; búsqueda por ícono y por lotes</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85263"/>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24954"/>
                      </a:solidFill>
                      <a:prstDash val="solid"/>
                      <a:round/>
                      <a:headEnd type="none" w="med" len="med"/>
                      <a:tailEnd type="none" w="med" len="med"/>
                    </a:lnR>
                    <a:lnT w="12700" cap="flat" cmpd="sng" algn="ctr">
                      <a:solidFill>
                        <a:srgbClr val="485263"/>
                      </a:solidFill>
                      <a:prstDash val="solid"/>
                      <a:round/>
                      <a:headEnd type="none" w="med" len="med"/>
                      <a:tailEnd type="none" w="med" len="med"/>
                    </a:lnT>
                    <a:lnB w="12700" cap="flat" cmpd="sng" algn="ctr">
                      <a:solidFill>
                        <a:srgbClr val="424954"/>
                      </a:solidFill>
                      <a:prstDash val="solid"/>
                      <a:round/>
                      <a:headEnd type="none" w="med" len="med"/>
                      <a:tailEnd type="none" w="med" len="med"/>
                    </a:lnB>
                  </a:tcPr>
                </a:tc>
                <a:extLst>
                  <a:ext uri="{0D108BD9-81ED-4DB2-BD59-A6C34878D82A}">
                    <a16:rowId xmlns:a16="http://schemas.microsoft.com/office/drawing/2014/main" val="10003"/>
                  </a:ext>
                </a:extLst>
              </a:tr>
              <a:tr h="590451">
                <a:tc>
                  <a:txBody>
                    <a:bodyPr/>
                    <a:lstStyle/>
                    <a:p>
                      <a:pPr marL="0" indent="0">
                        <a:lnSpc>
                          <a:spcPts val="1820"/>
                        </a:lnSpc>
                        <a:buNone/>
                      </a:pPr>
                      <a:r>
                        <a:rPr lang="en-US" sz="1300" dirty="0">
                          <a:solidFill>
                            <a:srgbClr val="F0654D"/>
                          </a:solidFill>
                          <a:latin typeface="IBM Plex Sans" pitchFamily="34" charset="0"/>
                          <a:ea typeface="IBM Plex Sans" pitchFamily="34" charset="-122"/>
                          <a:cs typeface="IBM Plex Sans" pitchFamily="34" charset="-120"/>
                        </a:rPr>
                        <a:t>GreyNoise</a:t>
                      </a:r>
                      <a:endParaRPr lang="en-US" sz="1300" dirty="0">
                        <a:latin typeface="IBM Plex Sans" charset="0"/>
                        <a:ea typeface="IBM Plex Sans" charset="0"/>
                        <a:cs typeface="IBM Plex Sans" charset="0"/>
                      </a:endParaRPr>
                    </a:p>
                  </a:txBody>
                  <a:tcPr marL="57785" marR="57785" marT="57785" marB="57785">
                    <a:lnL w="12700" cap="flat" cmpd="sng" algn="ctr">
                      <a:solidFill>
                        <a:srgbClr val="424954"/>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tc>
                  <a:txBody>
                    <a:bodyPr/>
                    <a:lstStyle/>
                    <a:p>
                      <a:pPr marL="0" indent="0">
                        <a:lnSpc>
                          <a:spcPts val="1820"/>
                        </a:lnSpc>
                        <a:buNone/>
                      </a:pPr>
                      <a:r>
                        <a:rPr lang="en-US" sz="1300" dirty="0">
                          <a:solidFill>
                            <a:srgbClr val="E8EDF4"/>
                          </a:solidFill>
                          <a:latin typeface="IBM Plex Sans" pitchFamily="34" charset="0"/>
                          <a:ea typeface="IBM Plex Sans" pitchFamily="34" charset="-122"/>
                          <a:cs typeface="IBM Plex Sans" pitchFamily="34" charset="-120"/>
                        </a:rPr>
                        <a:t>Ruido de fondo: ¿esta IP está escaneando Internet?</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263"/>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tc>
                  <a:txBody>
                    <a:bodyPr/>
                    <a:lstStyle/>
                    <a:p>
                      <a:pPr marL="0" indent="0">
                        <a:lnSpc>
                          <a:spcPts val="1820"/>
                        </a:lnSpc>
                        <a:buNone/>
                      </a:pPr>
                      <a:r>
                        <a:rPr lang="en-US" sz="1300" dirty="0">
                          <a:solidFill>
                            <a:srgbClr val="4CC3B0"/>
                          </a:solidFill>
                          <a:latin typeface="IBM Plex Sans" pitchFamily="34" charset="0"/>
                          <a:ea typeface="IBM Plex Sans" pitchFamily="34" charset="-122"/>
                          <a:cs typeface="IBM Plex Sans" pitchFamily="34" charset="-120"/>
                        </a:rPr>
                        <a:t>Sí</a:t>
                      </a:r>
                      <a:endParaRPr lang="en-US" sz="1300" dirty="0">
                        <a:latin typeface="IBM Plex Sans" charset="0"/>
                        <a:ea typeface="IBM Plex Sans" charset="0"/>
                        <a:cs typeface="IBM Plex Sans" charset="0"/>
                      </a:endParaRPr>
                    </a:p>
                  </a:txBody>
                  <a:tcPr marL="57785" marR="57785" marT="57785" marB="57785">
                    <a:lnL w="12700" cap="flat" cmpd="sng" algn="ctr">
                      <a:solidFill>
                        <a:srgbClr val="485263"/>
                      </a:solidFill>
                      <a:prstDash val="solid"/>
                      <a:round/>
                      <a:headEnd type="none" w="med" len="med"/>
                      <a:tailEnd type="none" w="med" len="med"/>
                    </a:lnL>
                    <a:lnR w="12700" cap="flat" cmpd="sng" algn="ctr">
                      <a:solidFill>
                        <a:srgbClr val="485263"/>
                      </a:solidFill>
                      <a:prstDash val="solid"/>
                      <a:round/>
                      <a:headEnd type="none" w="med" len="med"/>
                      <a:tailEnd type="none" w="med" len="med"/>
                    </a:lnR>
                    <a:lnT w="12700" cap="flat" cmpd="sng" algn="ctr">
                      <a:solidFill>
                        <a:srgbClr val="424954"/>
                      </a:solidFill>
                      <a:prstDash val="solid"/>
                      <a:round/>
                      <a:headEnd type="none" w="med" len="med"/>
                      <a:tailEnd type="none" w="med" len="med"/>
                    </a:lnT>
                    <a:lnB w="12700" cap="flat" cmpd="sng" algn="ctr">
                      <a:solidFill>
                        <a:srgbClr val="485263"/>
                      </a:solidFill>
                      <a:prstDash val="solid"/>
                      <a:round/>
                      <a:headEnd type="none" w="med" len="med"/>
                      <a:tailEnd type="none" w="med" len="med"/>
                    </a:lnB>
                    <a:solidFill>
                      <a:srgbClr val="16233A"/>
                    </a:solidFill>
                  </a:tcPr>
                </a:tc>
                <a:extLst>
                  <a:ext uri="{0D108BD9-81ED-4DB2-BD59-A6C34878D82A}">
                    <a16:rowId xmlns:a16="http://schemas.microsoft.com/office/drawing/2014/main" val="10004"/>
                  </a:ext>
                </a:extLst>
              </a:tr>
            </a:tbl>
          </a:graphicData>
        </a:graphic>
      </p:graphicFrame>
      <p:sp>
        <p:nvSpPr>
          <p:cNvPr id="5" name="Shape 2"/>
          <p:cNvSpPr/>
          <p:nvPr/>
        </p:nvSpPr>
        <p:spPr>
          <a:xfrm>
            <a:off x="7416800" y="1930350"/>
            <a:ext cx="3810000" cy="1257300"/>
          </a:xfrm>
          <a:prstGeom prst="roundRect">
            <a:avLst>
              <a:gd name="adj" fmla="val 4040"/>
            </a:avLst>
          </a:prstGeom>
          <a:solidFill>
            <a:srgbClr val="0A111D"/>
          </a:solidFill>
          <a:ln/>
        </p:spPr>
        <p:txBody>
          <a:bodyPr/>
          <a:lstStyle/>
          <a:p>
            <a:endParaRPr lang="es-ES_tradnl"/>
          </a:p>
        </p:txBody>
      </p:sp>
      <p:pic>
        <p:nvPicPr>
          <p:cNvPr id="6" name="Image 0" descr="GreyNoise Visualizer: 8.8.8.8 no observada"/>
          <p:cNvPicPr>
            <a:picLocks noChangeAspect="1"/>
          </p:cNvPicPr>
          <p:nvPr/>
        </p:nvPicPr>
        <p:blipFill>
          <a:blip r:embed="rId3"/>
          <a:srcRect l="-347" r="-347"/>
          <a:stretch/>
        </p:blipFill>
        <p:spPr>
          <a:xfrm>
            <a:off x="7423150" y="1936700"/>
            <a:ext cx="3797300" cy="1244600"/>
          </a:xfrm>
          <a:prstGeom prst="roundRect">
            <a:avLst>
              <a:gd name="adj" fmla="val 3571"/>
            </a:avLst>
          </a:prstGeom>
        </p:spPr>
      </p:pic>
      <p:sp>
        <p:nvSpPr>
          <p:cNvPr id="7" name="Shape 3"/>
          <p:cNvSpPr/>
          <p:nvPr/>
        </p:nvSpPr>
        <p:spPr>
          <a:xfrm>
            <a:off x="7419975" y="1933525"/>
            <a:ext cx="3803650" cy="1250950"/>
          </a:xfrm>
          <a:prstGeom prst="roundRect">
            <a:avLst>
              <a:gd name="adj" fmla="val 3807"/>
            </a:avLst>
          </a:prstGeom>
          <a:noFill/>
          <a:ln w="6350">
            <a:solidFill>
              <a:srgbClr val="26385A"/>
            </a:solidFill>
            <a:prstDash val="solid"/>
          </a:ln>
        </p:spPr>
        <p:txBody>
          <a:bodyPr/>
          <a:lstStyle/>
          <a:p>
            <a:endParaRPr lang="es-ES_tradnl"/>
          </a:p>
        </p:txBody>
      </p:sp>
      <p:sp>
        <p:nvSpPr>
          <p:cNvPr id="8" name="Text 4"/>
          <p:cNvSpPr/>
          <p:nvPr/>
        </p:nvSpPr>
        <p:spPr>
          <a:xfrm>
            <a:off x="7416800" y="3263850"/>
            <a:ext cx="3924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IBM Plex Sans" pitchFamily="34" charset="0"/>
                <a:ea typeface="IBM Plex Sans" pitchFamily="34" charset="-122"/>
                <a:cs typeface="IBM Plex Sans" pitchFamily="34" charset="-120"/>
              </a:rPr>
              <a:t>8.8.8.8: NOT OBSERVED</a:t>
            </a:r>
            <a:endParaRPr lang="en-US" sz="1200" dirty="0"/>
          </a:p>
        </p:txBody>
      </p:sp>
      <p:sp>
        <p:nvSpPr>
          <p:cNvPr id="9" name="Shape 5"/>
          <p:cNvSpPr/>
          <p:nvPr/>
        </p:nvSpPr>
        <p:spPr>
          <a:xfrm>
            <a:off x="7416800" y="3553371"/>
            <a:ext cx="3810000" cy="1314450"/>
          </a:xfrm>
          <a:prstGeom prst="roundRect">
            <a:avLst>
              <a:gd name="adj" fmla="val 3865"/>
            </a:avLst>
          </a:prstGeom>
          <a:solidFill>
            <a:srgbClr val="0A111D"/>
          </a:solidFill>
          <a:ln/>
        </p:spPr>
        <p:txBody>
          <a:bodyPr/>
          <a:lstStyle/>
          <a:p>
            <a:endParaRPr lang="es-ES_tradnl"/>
          </a:p>
        </p:txBody>
      </p:sp>
      <p:pic>
        <p:nvPicPr>
          <p:cNvPr id="10" name="Image 1" descr="GreyNoise Visualizer: IP propia del grupo no observada, IP oculta"/>
          <p:cNvPicPr>
            <a:picLocks noChangeAspect="1"/>
          </p:cNvPicPr>
          <p:nvPr/>
        </p:nvPicPr>
        <p:blipFill>
          <a:blip r:embed="rId4"/>
          <a:srcRect l="-326" r="-326"/>
          <a:stretch/>
        </p:blipFill>
        <p:spPr>
          <a:xfrm>
            <a:off x="7423150" y="3559721"/>
            <a:ext cx="3797300" cy="1301750"/>
          </a:xfrm>
          <a:prstGeom prst="roundRect">
            <a:avLst>
              <a:gd name="adj" fmla="val 3415"/>
            </a:avLst>
          </a:prstGeom>
        </p:spPr>
      </p:pic>
      <p:sp>
        <p:nvSpPr>
          <p:cNvPr id="11" name="Shape 6"/>
          <p:cNvSpPr/>
          <p:nvPr/>
        </p:nvSpPr>
        <p:spPr>
          <a:xfrm>
            <a:off x="7419975" y="3556546"/>
            <a:ext cx="3803650" cy="1308100"/>
          </a:xfrm>
          <a:prstGeom prst="roundRect">
            <a:avLst>
              <a:gd name="adj" fmla="val 3641"/>
            </a:avLst>
          </a:prstGeom>
          <a:noFill/>
          <a:ln w="6350">
            <a:solidFill>
              <a:srgbClr val="26385A"/>
            </a:solidFill>
            <a:prstDash val="solid"/>
          </a:ln>
        </p:spPr>
        <p:txBody>
          <a:bodyPr/>
          <a:lstStyle/>
          <a:p>
            <a:endParaRPr lang="es-ES_tradnl"/>
          </a:p>
        </p:txBody>
      </p:sp>
      <p:sp>
        <p:nvSpPr>
          <p:cNvPr id="12" name="Text 7"/>
          <p:cNvSpPr/>
          <p:nvPr/>
        </p:nvSpPr>
        <p:spPr>
          <a:xfrm>
            <a:off x="7416800" y="4944021"/>
            <a:ext cx="39243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IBM Plex Sans" pitchFamily="34" charset="0"/>
                <a:ea typeface="IBM Plex Sans" pitchFamily="34" charset="-122"/>
                <a:cs typeface="IBM Plex Sans" pitchFamily="34" charset="-120"/>
              </a:rPr>
              <a:t>IP propia (oculta): NOT OBSERVED</a:t>
            </a:r>
            <a:endParaRPr lang="en-US" sz="1200" dirty="0"/>
          </a:p>
        </p:txBody>
      </p:sp>
      <p:sp>
        <p:nvSpPr>
          <p:cNvPr id="13" name="Text 8"/>
          <p:cNvSpPr/>
          <p:nvPr/>
        </p:nvSpPr>
        <p:spPr>
          <a:xfrm>
            <a:off x="812800" y="6238280"/>
            <a:ext cx="833925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C6"/>
                </a:solidFill>
                <a:latin typeface="JetBrains Mono" pitchFamily="49" charset="0"/>
                <a:ea typeface="JetBrains Mono" pitchFamily="49" charset="-122"/>
                <a:cs typeface="JetBrains Mono" pitchFamily="49" charset="-120"/>
              </a:rPr>
              <a:t>Durumeric et al. (2015) · GreyNoise (s. f.) · ZoomEye (s. f.) · FOFA (s. f.)</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8432E"/>
                </a:solidFill>
                <a:latin typeface="JetBrains Mono" pitchFamily="49" charset="0"/>
                <a:ea typeface="JetBrains Mono" pitchFamily="49" charset="-122"/>
                <a:cs typeface="JetBrains Mono" pitchFamily="49" charset="-120"/>
              </a:rPr>
              <a:t>07 · INFORMACIÓN ADICIONAL IMPORTANTE</a:t>
            </a:r>
            <a:endParaRPr lang="en-US" sz="1200" dirty="0"/>
          </a:p>
        </p:txBody>
      </p:sp>
      <p:sp>
        <p:nvSpPr>
          <p:cNvPr id="3" name="Text 1"/>
          <p:cNvSpPr>
            <a:spLocks noGrp="1"/>
          </p:cNvSpPr>
          <p:nvPr>
            <p:ph type="title"/>
          </p:nvPr>
        </p:nvSpPr>
        <p:spPr>
          <a:xfrm>
            <a:off x="812800" y="128012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6202F"/>
                </a:solidFill>
                <a:latin typeface="IBM Plex Sans" pitchFamily="34" charset="0"/>
                <a:ea typeface="IBM Plex Sans" pitchFamily="34" charset="-122"/>
                <a:cs typeface="IBM Plex Sans" pitchFamily="34" charset="-120"/>
              </a:rPr>
              <a:t>Pasivo, agregado y documentado</a:t>
            </a:r>
            <a:endParaRPr lang="en-US" sz="3600" dirty="0"/>
          </a:p>
        </p:txBody>
      </p:sp>
      <p:sp>
        <p:nvSpPr>
          <p:cNvPr id="4" name="Shape 2"/>
          <p:cNvSpPr/>
          <p:nvPr/>
        </p:nvSpPr>
        <p:spPr>
          <a:xfrm>
            <a:off x="815975" y="2040186"/>
            <a:ext cx="5175250" cy="2233910"/>
          </a:xfrm>
          <a:prstGeom prst="roundRect">
            <a:avLst>
              <a:gd name="adj" fmla="val 4406"/>
            </a:avLst>
          </a:prstGeom>
          <a:solidFill>
            <a:srgbClr val="FFFFFF"/>
          </a:solidFill>
          <a:ln w="6350">
            <a:solidFill>
              <a:srgbClr val="DDD8CC"/>
            </a:solidFill>
            <a:prstDash val="solid"/>
          </a:ln>
        </p:spPr>
        <p:txBody>
          <a:bodyPr/>
          <a:lstStyle/>
          <a:p>
            <a:endParaRPr lang="es-ES_tradnl"/>
          </a:p>
        </p:txBody>
      </p:sp>
      <p:sp>
        <p:nvSpPr>
          <p:cNvPr id="5" name="Text 3"/>
          <p:cNvSpPr/>
          <p:nvPr/>
        </p:nvSpPr>
        <p:spPr>
          <a:xfrm>
            <a:off x="1073150" y="2297361"/>
            <a:ext cx="48007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8C7E"/>
                </a:solidFill>
                <a:latin typeface="IBM Plex Sans" pitchFamily="34" charset="0"/>
                <a:ea typeface="IBM Plex Sans" pitchFamily="34" charset="-122"/>
                <a:cs typeface="IBM Plex Sans" pitchFamily="34" charset="-120"/>
              </a:rPr>
              <a:t>Lo que hicimos</a:t>
            </a:r>
            <a:endParaRPr lang="en-US" sz="2000" dirty="0"/>
          </a:p>
        </p:txBody>
      </p:sp>
      <p:sp>
        <p:nvSpPr>
          <p:cNvPr id="6" name="Text 4"/>
          <p:cNvSpPr/>
          <p:nvPr/>
        </p:nvSpPr>
        <p:spPr>
          <a:xfrm>
            <a:off x="1073150" y="2703761"/>
            <a:ext cx="4800727" cy="10922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F"/>
                </a:solidFill>
                <a:latin typeface="IBM Plex Sans" pitchFamily="34" charset="0"/>
                <a:ea typeface="IBM Plex Sans" pitchFamily="34" charset="-122"/>
                <a:cs typeface="IBM Plex Sans" pitchFamily="34" charset="-120"/>
              </a:rPr>
              <a:t>Solo consultas al índice</a:t>
            </a:r>
            <a:endParaRPr lang="en-US" sz="1500" dirty="0"/>
          </a:p>
          <a:p>
            <a:pPr marL="0" indent="0" algn="l">
              <a:lnSpc>
                <a:spcPts val="2100"/>
              </a:lnSpc>
              <a:buNone/>
            </a:pPr>
            <a:r>
              <a:rPr lang="en-US" sz="1500" dirty="0">
                <a:solidFill>
                  <a:srgbClr val="16202F"/>
                </a:solidFill>
                <a:latin typeface="IBM Plex Sans" pitchFamily="34" charset="0"/>
                <a:ea typeface="IBM Plex Sans" pitchFamily="34" charset="-122"/>
                <a:cs typeface="IBM Plex Sans" pitchFamily="34" charset="-120"/>
              </a:rPr>
              <a:t>Conteos, no listas de IPs</a:t>
            </a:r>
            <a:endParaRPr lang="en-US" sz="1500" dirty="0"/>
          </a:p>
          <a:p>
            <a:pPr marL="0" indent="0" algn="l">
              <a:lnSpc>
                <a:spcPts val="2100"/>
              </a:lnSpc>
              <a:buNone/>
            </a:pPr>
            <a:r>
              <a:rPr lang="en-US" sz="1500" dirty="0">
                <a:solidFill>
                  <a:srgbClr val="16202F"/>
                </a:solidFill>
                <a:latin typeface="IBM Plex Sans" pitchFamily="34" charset="0"/>
                <a:ea typeface="IBM Plex Sans" pitchFamily="34" charset="-122"/>
                <a:cs typeface="IBM Plex Sans" pitchFamily="34" charset="-120"/>
              </a:rPr>
              <a:t>Cero conexiones y cero credenciales</a:t>
            </a:r>
            <a:endParaRPr lang="en-US" sz="1500" dirty="0"/>
          </a:p>
          <a:p>
            <a:pPr marL="0" indent="0" algn="l">
              <a:lnSpc>
                <a:spcPts val="2100"/>
              </a:lnSpc>
              <a:buNone/>
            </a:pPr>
            <a:r>
              <a:rPr lang="en-US" sz="1500" dirty="0">
                <a:solidFill>
                  <a:srgbClr val="16202F"/>
                </a:solidFill>
                <a:latin typeface="IBM Plex Sans" pitchFamily="34" charset="0"/>
                <a:ea typeface="IBM Plex Sans" pitchFamily="34" charset="-122"/>
                <a:cs typeface="IBM Plex Sans" pitchFamily="34" charset="-120"/>
              </a:rPr>
              <a:t>IPs y dominios de terceros difuminados</a:t>
            </a:r>
            <a:endParaRPr lang="en-US" sz="1500" dirty="0"/>
          </a:p>
        </p:txBody>
      </p:sp>
      <p:sp>
        <p:nvSpPr>
          <p:cNvPr id="7" name="Shape 5"/>
          <p:cNvSpPr/>
          <p:nvPr/>
        </p:nvSpPr>
        <p:spPr>
          <a:xfrm>
            <a:off x="6200775" y="2040186"/>
            <a:ext cx="5175250" cy="2233910"/>
          </a:xfrm>
          <a:prstGeom prst="roundRect">
            <a:avLst>
              <a:gd name="adj" fmla="val 4406"/>
            </a:avLst>
          </a:prstGeom>
          <a:solidFill>
            <a:srgbClr val="FFFFFF"/>
          </a:solidFill>
          <a:ln w="6350">
            <a:solidFill>
              <a:srgbClr val="DDD8CC"/>
            </a:solidFill>
            <a:prstDash val="solid"/>
          </a:ln>
        </p:spPr>
        <p:txBody>
          <a:bodyPr/>
          <a:lstStyle/>
          <a:p>
            <a:endParaRPr lang="es-ES_tradnl"/>
          </a:p>
        </p:txBody>
      </p:sp>
      <p:sp>
        <p:nvSpPr>
          <p:cNvPr id="8" name="Text 6"/>
          <p:cNvSpPr/>
          <p:nvPr/>
        </p:nvSpPr>
        <p:spPr>
          <a:xfrm>
            <a:off x="6457950" y="2297361"/>
            <a:ext cx="480072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C8432E"/>
                </a:solidFill>
                <a:latin typeface="IBM Plex Sans" pitchFamily="34" charset="0"/>
                <a:ea typeface="IBM Plex Sans" pitchFamily="34" charset="-122"/>
                <a:cs typeface="IBM Plex Sans" pitchFamily="34" charset="-120"/>
              </a:rPr>
              <a:t>Marco legal en Costa Rica</a:t>
            </a:r>
            <a:endParaRPr lang="en-US" sz="2000" dirty="0"/>
          </a:p>
        </p:txBody>
      </p:sp>
      <p:sp>
        <p:nvSpPr>
          <p:cNvPr id="9" name="Text 7"/>
          <p:cNvSpPr/>
          <p:nvPr/>
        </p:nvSpPr>
        <p:spPr>
          <a:xfrm>
            <a:off x="6457950" y="2703761"/>
            <a:ext cx="4800727"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6202F"/>
                </a:solidFill>
                <a:latin typeface="IBM Plex Sans" pitchFamily="34" charset="0"/>
                <a:ea typeface="IBM Plex Sans" pitchFamily="34" charset="-122"/>
                <a:cs typeface="IBM Plex Sans" pitchFamily="34" charset="-120"/>
              </a:rPr>
              <a:t>Ley 9048: delitos informáticos en el Código Penal (arts. 196, 196 bis, 231)</a:t>
            </a:r>
            <a:endParaRPr lang="en-US" sz="1500" dirty="0"/>
          </a:p>
          <a:p>
            <a:pPr marL="0" indent="0" algn="l">
              <a:lnSpc>
                <a:spcPts val="2100"/>
              </a:lnSpc>
              <a:buNone/>
            </a:pPr>
            <a:r>
              <a:rPr lang="en-US" sz="1500" dirty="0">
                <a:solidFill>
                  <a:srgbClr val="16202F"/>
                </a:solidFill>
                <a:latin typeface="IBM Plex Sans" pitchFamily="34" charset="0"/>
                <a:ea typeface="IBM Plex Sans" pitchFamily="34" charset="-122"/>
                <a:cs typeface="IBM Plex Sans" pitchFamily="34" charset="-120"/>
              </a:rPr>
              <a:t>Ley 8968: datos personales (arts. 3 b y 5)</a:t>
            </a:r>
            <a:endParaRPr lang="en-US" sz="1500" dirty="0"/>
          </a:p>
        </p:txBody>
      </p:sp>
      <p:sp>
        <p:nvSpPr>
          <p:cNvPr id="10" name="Text 8"/>
          <p:cNvSpPr/>
          <p:nvPr/>
        </p:nvSpPr>
        <p:spPr>
          <a:xfrm>
            <a:off x="6457950" y="3605461"/>
            <a:ext cx="4800727"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566274"/>
                </a:solidFill>
                <a:latin typeface="IBM Plex Sans" pitchFamily="34" charset="0"/>
                <a:ea typeface="IBM Plex Sans" pitchFamily="34" charset="-122"/>
                <a:cs typeface="IBM Plex Sans" pitchFamily="34" charset="-120"/>
              </a:rPr>
              <a:t>No somos abogados. Consultamos una transcripción; verificar en el SCIJ.</a:t>
            </a:r>
            <a:endParaRPr lang="en-US" sz="1200" dirty="0"/>
          </a:p>
        </p:txBody>
      </p:sp>
      <p:sp>
        <p:nvSpPr>
          <p:cNvPr id="11" name="Text 9"/>
          <p:cNvSpPr/>
          <p:nvPr/>
        </p:nvSpPr>
        <p:spPr>
          <a:xfrm>
            <a:off x="812800" y="6238280"/>
            <a:ext cx="724197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JetBrains Mono" pitchFamily="49" charset="0"/>
                <a:ea typeface="JetBrains Mono" pitchFamily="49" charset="-122"/>
                <a:cs typeface="JetBrains Mono" pitchFamily="49" charset="-120"/>
              </a:rPr>
              <a:t>Wu et al. (2024): ser indexado no depende de la voluntad del dueño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4F1E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8432E"/>
                </a:solidFill>
                <a:latin typeface="JetBrains Mono" pitchFamily="49" charset="0"/>
                <a:ea typeface="JetBrains Mono" pitchFamily="49" charset="-122"/>
                <a:cs typeface="JetBrains Mono" pitchFamily="49" charset="-120"/>
              </a:rPr>
              <a:t>CONCLUSIONES</a:t>
            </a:r>
            <a:endParaRPr lang="en-US" sz="1200" dirty="0"/>
          </a:p>
        </p:txBody>
      </p:sp>
      <p:sp>
        <p:nvSpPr>
          <p:cNvPr id="3" name="Text 1"/>
          <p:cNvSpPr>
            <a:spLocks noGrp="1"/>
          </p:cNvSpPr>
          <p:nvPr>
            <p:ph type="title"/>
          </p:nvPr>
        </p:nvSpPr>
        <p:spPr>
          <a:xfrm>
            <a:off x="812800" y="125472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F"/>
                </a:solidFill>
                <a:latin typeface="IBM Plex Sans" pitchFamily="34" charset="0"/>
                <a:ea typeface="IBM Plex Sans" pitchFamily="34" charset="-122"/>
                <a:cs typeface="IBM Plex Sans" pitchFamily="34" charset="-120"/>
              </a:rPr>
              <a:t>Shodan es una herramienta de visibilidad</a:t>
            </a:r>
            <a:endParaRPr lang="en-US" sz="3200" dirty="0"/>
          </a:p>
        </p:txBody>
      </p:sp>
      <p:sp>
        <p:nvSpPr>
          <p:cNvPr id="4" name="Text 2"/>
          <p:cNvSpPr/>
          <p:nvPr/>
        </p:nvSpPr>
        <p:spPr>
          <a:xfrm>
            <a:off x="812800" y="1930350"/>
            <a:ext cx="17274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8432E"/>
                </a:solidFill>
                <a:latin typeface="JetBrains Mono" pitchFamily="49" charset="0"/>
                <a:ea typeface="JetBrains Mono" pitchFamily="49" charset="-122"/>
                <a:cs typeface="JetBrains Mono" pitchFamily="49" charset="-120"/>
              </a:rPr>
              <a:t>1</a:t>
            </a:r>
            <a:endParaRPr lang="en-US" sz="1600" dirty="0"/>
          </a:p>
        </p:txBody>
      </p:sp>
      <p:sp>
        <p:nvSpPr>
          <p:cNvPr id="5" name="Text 3"/>
          <p:cNvSpPr/>
          <p:nvPr/>
        </p:nvSpPr>
        <p:spPr>
          <a:xfrm>
            <a:off x="1087140" y="1936700"/>
            <a:ext cx="8009453"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6202F"/>
                </a:solidFill>
                <a:latin typeface="IBM Plex Sans" pitchFamily="34" charset="0"/>
                <a:ea typeface="IBM Plex Sans" pitchFamily="34" charset="-122"/>
                <a:cs typeface="IBM Plex Sans" pitchFamily="34" charset="-120"/>
              </a:rPr>
              <a:t>Indexa respuestas de servicios, no sitios: lo vimos en cada banner y filtro.</a:t>
            </a:r>
            <a:endParaRPr lang="en-US" sz="1600" dirty="0"/>
          </a:p>
        </p:txBody>
      </p:sp>
      <p:sp>
        <p:nvSpPr>
          <p:cNvPr id="6" name="Text 4"/>
          <p:cNvSpPr/>
          <p:nvPr/>
        </p:nvSpPr>
        <p:spPr>
          <a:xfrm>
            <a:off x="812800" y="2341811"/>
            <a:ext cx="17274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8432E"/>
                </a:solidFill>
                <a:latin typeface="JetBrains Mono" pitchFamily="49" charset="0"/>
                <a:ea typeface="JetBrains Mono" pitchFamily="49" charset="-122"/>
                <a:cs typeface="JetBrains Mono" pitchFamily="49" charset="-120"/>
              </a:rPr>
              <a:t>2</a:t>
            </a:r>
            <a:endParaRPr lang="en-US" sz="1600" dirty="0"/>
          </a:p>
        </p:txBody>
      </p:sp>
      <p:sp>
        <p:nvSpPr>
          <p:cNvPr id="7" name="Text 5"/>
          <p:cNvSpPr/>
          <p:nvPr/>
        </p:nvSpPr>
        <p:spPr>
          <a:xfrm>
            <a:off x="1087140" y="2348161"/>
            <a:ext cx="8477845"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6202F"/>
                </a:solidFill>
                <a:latin typeface="IBM Plex Sans" pitchFamily="34" charset="0"/>
                <a:ea typeface="IBM Plex Sans" pitchFamily="34" charset="-122"/>
                <a:cs typeface="IBM Plex Sans" pitchFamily="34" charset="-120"/>
              </a:rPr>
              <a:t>Una cuenta gratuita alcanza: 292,152 servicios analizados sin gastar créditos.</a:t>
            </a:r>
            <a:endParaRPr lang="en-US" sz="1600" dirty="0"/>
          </a:p>
        </p:txBody>
      </p:sp>
      <p:sp>
        <p:nvSpPr>
          <p:cNvPr id="8" name="Text 6"/>
          <p:cNvSpPr/>
          <p:nvPr/>
        </p:nvSpPr>
        <p:spPr>
          <a:xfrm>
            <a:off x="812800" y="2753271"/>
            <a:ext cx="17274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8432E"/>
                </a:solidFill>
                <a:latin typeface="JetBrains Mono" pitchFamily="49" charset="0"/>
                <a:ea typeface="JetBrains Mono" pitchFamily="49" charset="-122"/>
                <a:cs typeface="JetBrains Mono" pitchFamily="49" charset="-120"/>
              </a:rPr>
              <a:t>3</a:t>
            </a:r>
            <a:endParaRPr lang="en-US" sz="1600" dirty="0"/>
          </a:p>
        </p:txBody>
      </p:sp>
      <p:sp>
        <p:nvSpPr>
          <p:cNvPr id="9" name="Text 7"/>
          <p:cNvSpPr/>
          <p:nvPr/>
        </p:nvSpPr>
        <p:spPr>
          <a:xfrm>
            <a:off x="1087140" y="2759621"/>
            <a:ext cx="8477607"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6202F"/>
                </a:solidFill>
                <a:latin typeface="IBM Plex Sans" pitchFamily="34" charset="0"/>
                <a:ea typeface="IBM Plex Sans" pitchFamily="34" charset="-122"/>
                <a:cs typeface="IBM Plex Sans" pitchFamily="34" charset="-120"/>
              </a:rPr>
              <a:t>Costa Rica está concentrada: puerto 7547 con 23.6 % y San José con 61.9 %.</a:t>
            </a:r>
            <a:endParaRPr lang="en-US" sz="1600" dirty="0"/>
          </a:p>
        </p:txBody>
      </p:sp>
      <p:sp>
        <p:nvSpPr>
          <p:cNvPr id="10" name="Text 8"/>
          <p:cNvSpPr/>
          <p:nvPr/>
        </p:nvSpPr>
        <p:spPr>
          <a:xfrm>
            <a:off x="812800" y="3164731"/>
            <a:ext cx="17274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8432E"/>
                </a:solidFill>
                <a:latin typeface="JetBrains Mono" pitchFamily="49" charset="0"/>
                <a:ea typeface="JetBrains Mono" pitchFamily="49" charset="-122"/>
                <a:cs typeface="JetBrains Mono" pitchFamily="49" charset="-120"/>
              </a:rPr>
              <a:t>4</a:t>
            </a:r>
            <a:endParaRPr lang="en-US" sz="1600" dirty="0"/>
          </a:p>
        </p:txBody>
      </p:sp>
      <p:sp>
        <p:nvSpPr>
          <p:cNvPr id="11" name="Text 9"/>
          <p:cNvSpPr/>
          <p:nvPr/>
        </p:nvSpPr>
        <p:spPr>
          <a:xfrm>
            <a:off x="1087140" y="3171081"/>
            <a:ext cx="8117681"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6202F"/>
                </a:solidFill>
                <a:latin typeface="IBM Plex Sans" pitchFamily="34" charset="0"/>
                <a:ea typeface="IBM Plex Sans" pitchFamily="34" charset="-122"/>
                <a:cs typeface="IBM Plex Sans" pitchFamily="34" charset="-120"/>
              </a:rPr>
              <a:t>Indexado no es vulnerable, y el índice es una foto incompleta y cambiante.</a:t>
            </a:r>
            <a:endParaRPr lang="en-US" sz="1600" dirty="0"/>
          </a:p>
        </p:txBody>
      </p:sp>
      <p:sp>
        <p:nvSpPr>
          <p:cNvPr id="12" name="Text 10"/>
          <p:cNvSpPr/>
          <p:nvPr/>
        </p:nvSpPr>
        <p:spPr>
          <a:xfrm>
            <a:off x="812800" y="3576191"/>
            <a:ext cx="17274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8432E"/>
                </a:solidFill>
                <a:latin typeface="JetBrains Mono" pitchFamily="49" charset="0"/>
                <a:ea typeface="JetBrains Mono" pitchFamily="49" charset="-122"/>
                <a:cs typeface="JetBrains Mono" pitchFamily="49" charset="-120"/>
              </a:rPr>
              <a:t>5</a:t>
            </a:r>
            <a:endParaRPr lang="en-US" sz="1600" dirty="0"/>
          </a:p>
        </p:txBody>
      </p:sp>
      <p:sp>
        <p:nvSpPr>
          <p:cNvPr id="13" name="Text 11"/>
          <p:cNvSpPr/>
          <p:nvPr/>
        </p:nvSpPr>
        <p:spPr>
          <a:xfrm>
            <a:off x="1087140" y="3582541"/>
            <a:ext cx="6428899"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6202F"/>
                </a:solidFill>
                <a:latin typeface="IBM Plex Sans" pitchFamily="34" charset="0"/>
                <a:ea typeface="IBM Plex Sans" pitchFamily="34" charset="-122"/>
                <a:cs typeface="IBM Plex Sans" pitchFamily="34" charset="-120"/>
              </a:rPr>
              <a:t>Ningún buscador basta solo, y la ética es parte del método.</a:t>
            </a:r>
            <a:endParaRPr lang="en-US" sz="1600" dirty="0"/>
          </a:p>
        </p:txBody>
      </p:sp>
      <p:sp>
        <p:nvSpPr>
          <p:cNvPr id="14" name="Text 12"/>
          <p:cNvSpPr/>
          <p:nvPr/>
        </p:nvSpPr>
        <p:spPr>
          <a:xfrm>
            <a:off x="812800" y="6238280"/>
            <a:ext cx="625441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66274"/>
                </a:solidFill>
                <a:latin typeface="JetBrains Mono" pitchFamily="49" charset="0"/>
                <a:ea typeface="JetBrains Mono" pitchFamily="49" charset="-122"/>
                <a:cs typeface="JetBrains Mono" pitchFamily="49" charset="-120"/>
              </a:rPr>
              <a:t>Detalle y evidencia: documento Word, sección Conclusiones</a:t>
            </a:r>
            <a:endParaRPr lang="en-US" sz="1200" dirty="0"/>
          </a:p>
        </p:txBody>
      </p:sp>
    </p:spTree>
  </p:cSld>
  <p:clrMapOvr>
    <a:masterClrMapping/>
  </p:clrMapOvr>
</p:sld>
</file>

<file path=ppt/theme/theme1.xml><?xml version="1.0" encoding="utf-8"?>
<a:theme xmlns:a="http://schemas.openxmlformats.org/drawingml/2006/main" name="Shodan IF-6000 Exposición">
  <a:themeElements>
    <a:clrScheme name="Shodan IF-6000 Exposición">
      <a:dk1>
        <a:srgbClr val="0E1726"/>
      </a:dk1>
      <a:lt1>
        <a:srgbClr val="E8EDF4"/>
      </a:lt1>
      <a:dk2>
        <a:srgbClr val="242C3B"/>
      </a:dk2>
      <a:lt2>
        <a:srgbClr val="B2B8C1"/>
      </a:lt2>
      <a:accent1>
        <a:srgbClr val="C8432E"/>
      </a:accent1>
      <a:accent2>
        <a:srgbClr val="9FB0C6"/>
      </a:accent2>
      <a:accent3>
        <a:srgbClr val="F0654D"/>
      </a:accent3>
      <a:accent4>
        <a:srgbClr val="4CC3B0"/>
      </a:accent4>
      <a:accent5>
        <a:srgbClr val="1E8C7E"/>
      </a:accent5>
      <a:accent6>
        <a:srgbClr val="7E2416"/>
      </a:accent6>
      <a:hlink>
        <a:srgbClr val="0563C1"/>
      </a:hlink>
      <a:folHlink>
        <a:srgbClr val="954F72"/>
      </a:folHlink>
    </a:clrScheme>
    <a:fontScheme name="Shodan IF-6000 Exposició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2320</Words>
  <Application>Microsoft Macintosh PowerPoint</Application>
  <PresentationFormat>Widescreen</PresentationFormat>
  <Paragraphs>171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JetBrains Mono</vt:lpstr>
      <vt:lpstr>IBM Plex Sans</vt:lpstr>
      <vt:lpstr>Arial</vt:lpstr>
      <vt:lpstr>Shodan IF-6000 Exposición</vt:lpstr>
      <vt:lpstr>Shodan</vt:lpstr>
      <vt:lpstr>Google busca páginas. Shodan busca servicios.</vt:lpstr>
      <vt:lpstr>La misma herramienta sirve a quien defiende y a quien busca objetivos</vt:lpstr>
      <vt:lpstr>Cuatro cosas que hay que dominar</vt:lpstr>
      <vt:lpstr>Usted consulta una copia, no el dispositivo</vt:lpstr>
      <vt:lpstr>Un correo @ucr.ac.cr alcanza para el laboratorio</vt:lpstr>
      <vt:lpstr>Rankings en segundos, sin descargar resultados</vt:lpstr>
      <vt:lpstr>Combinar filtros convierte una duda en un conteo</vt:lpstr>
      <vt:lpstr>Panorama de Costa Rica sin gastar un crédito</vt:lpstr>
      <vt:lpstr>La exposición está muy concentrada</vt:lpstr>
      <vt:lpstr>Unos preguntan qué está expuesto, otro quién escanea</vt:lpstr>
      <vt:lpstr>Pasivo, agregado y documentado</vt:lpstr>
      <vt:lpstr>Shodan es una herramienta de visibilidad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Shodan IF-6000 Exposición</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ALEJANDRO ARIAS ROJAS</cp:lastModifiedBy>
  <cp:revision>3</cp:revision>
  <dcterms:created xsi:type="dcterms:W3CDTF">2026-10-29T01:40:22Z</dcterms:created>
  <dcterms:modified xsi:type="dcterms:W3CDTF">2026-10-29T02:32:36Z</dcterms:modified>
</cp:coreProperties>
</file>